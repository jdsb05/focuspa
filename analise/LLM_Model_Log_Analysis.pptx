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BD41D5-E08D-4BA3-92F4-E7E95B58653E}" v="3" dt="2025-11-09T17:12:24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7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85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62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5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0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00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2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21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18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77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8255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05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52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3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2025-11-09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95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Métricas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Uma imagem com texto, captura de ecrã, número, file&#10;&#10;Os conteúdos gerados por IA podem estar incorretos.">
            <a:extLst>
              <a:ext uri="{FF2B5EF4-FFF2-40B4-BE49-F238E27FC236}">
                <a16:creationId xmlns:a16="http://schemas.microsoft.com/office/drawing/2014/main" id="{81CCBDE8-805B-E432-E1AE-AB39D110E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46" y="434272"/>
            <a:ext cx="7837205" cy="55980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03C45176-E3B1-FE59-B814-D16428B47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35" y="660304"/>
            <a:ext cx="7072978" cy="50521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número, Tipo de letra&#10;&#10;Os conteúdos gerados por IA podem estar incorretos.">
            <a:extLst>
              <a:ext uri="{FF2B5EF4-FFF2-40B4-BE49-F238E27FC236}">
                <a16:creationId xmlns:a16="http://schemas.microsoft.com/office/drawing/2014/main" id="{F69ABD64-F6D0-CE1A-654E-76B6885E4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36" y="341803"/>
            <a:ext cx="7912549" cy="56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9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14D0BCEC-8D13-7264-D4A8-0FFC4A3B2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73" y="629480"/>
            <a:ext cx="7547648" cy="539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00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151C3C2D-D2D5-4A36-791B-8415B4D61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12" y="0"/>
            <a:ext cx="6098741" cy="4356243"/>
          </a:xfrm>
          <a:prstGeom prst="rect">
            <a:avLst/>
          </a:prstGeom>
        </p:spPr>
      </p:pic>
      <p:pic>
        <p:nvPicPr>
          <p:cNvPr id="5" name="Imagem 4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449B7F08-17FE-781C-B6C9-618C8999B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15" y="2736083"/>
            <a:ext cx="5770685" cy="412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43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3F50B885-CDC5-C424-CC49-10A575902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6645325" cy="4746661"/>
          </a:xfrm>
          <a:prstGeom prst="rect">
            <a:avLst/>
          </a:prstGeom>
        </p:spPr>
      </p:pic>
      <p:pic>
        <p:nvPicPr>
          <p:cNvPr id="9" name="Imagem 8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86343AD3-09EA-E3BF-D733-5BCD6B6FF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324" y="2896088"/>
            <a:ext cx="5546676" cy="396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38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diagrama, Gráfico&#10;&#10;Os conteúdos gerados por IA podem estar incorretos.">
            <a:extLst>
              <a:ext uri="{FF2B5EF4-FFF2-40B4-BE49-F238E27FC236}">
                <a16:creationId xmlns:a16="http://schemas.microsoft.com/office/drawing/2014/main" id="{CD1A4B2A-7FFF-9430-09B3-59D8E21F9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113126" cy="4366518"/>
          </a:xfrm>
          <a:prstGeom prst="rect">
            <a:avLst/>
          </a:prstGeom>
        </p:spPr>
      </p:pic>
      <p:pic>
        <p:nvPicPr>
          <p:cNvPr id="5" name="Imagem 4" descr="Uma imagem com texto, captura de ecrã, número, Tipo de letra&#10;&#10;Os conteúdos gerados por IA podem estar incorretos.">
            <a:extLst>
              <a:ext uri="{FF2B5EF4-FFF2-40B4-BE49-F238E27FC236}">
                <a16:creationId xmlns:a16="http://schemas.microsoft.com/office/drawing/2014/main" id="{4F85CF24-8740-4DEB-E61B-9D8EA0C6F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865" y="2625047"/>
            <a:ext cx="5926135" cy="423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6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7D351F21-8D23-3EA5-40D9-06FC3B33E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00271" cy="4571622"/>
          </a:xfrm>
          <a:prstGeom prst="rect">
            <a:avLst/>
          </a:prstGeom>
        </p:spPr>
      </p:pic>
      <p:pic>
        <p:nvPicPr>
          <p:cNvPr id="5" name="Imagem 4" descr="Uma imagem com texto, captura de ecrã, diagrama, Gráfico&#10;&#10;Os conteúdos gerados por IA podem estar incorretos.">
            <a:extLst>
              <a:ext uri="{FF2B5EF4-FFF2-40B4-BE49-F238E27FC236}">
                <a16:creationId xmlns:a16="http://schemas.microsoft.com/office/drawing/2014/main" id="{BE1AE829-95E5-22D0-0987-585369BD5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271" y="2721050"/>
            <a:ext cx="5791729" cy="413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27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9A6F4-A16F-6EA4-6D48-B85170CC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Análise de resultados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0CA7DF7-C359-F783-4454-C90206403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PT" b="1" dirty="0"/>
              <a:t>Precisão:</a:t>
            </a:r>
            <a:endParaRPr lang="pt-PT" dirty="0"/>
          </a:p>
          <a:p>
            <a:pPr lvl="1"/>
            <a:r>
              <a:rPr lang="pt-PT" dirty="0"/>
              <a:t>O </a:t>
            </a:r>
            <a:r>
              <a:rPr lang="pt-PT" b="1" dirty="0"/>
              <a:t>GPT-OSS:120B</a:t>
            </a:r>
            <a:r>
              <a:rPr lang="pt-PT" dirty="0"/>
              <a:t> apresentou a </a:t>
            </a:r>
            <a:r>
              <a:rPr lang="pt-PT" b="1" dirty="0"/>
              <a:t>melhor precisão média (≈ 8,8 %)</a:t>
            </a:r>
            <a:r>
              <a:rPr lang="pt-PT" dirty="0"/>
              <a:t>, mas com tempos de execução muito elevados.</a:t>
            </a:r>
          </a:p>
          <a:p>
            <a:pPr lvl="1"/>
            <a:r>
              <a:rPr lang="pt-PT" dirty="0"/>
              <a:t>O </a:t>
            </a:r>
            <a:r>
              <a:rPr lang="pt-PT" b="1" dirty="0"/>
              <a:t>Gemma3:4B</a:t>
            </a:r>
            <a:r>
              <a:rPr lang="pt-PT" dirty="0"/>
              <a:t> manteve </a:t>
            </a:r>
            <a:r>
              <a:rPr lang="pt-PT" b="1" dirty="0"/>
              <a:t>precisão moderada (≈ 7,7 %)</a:t>
            </a:r>
            <a:r>
              <a:rPr lang="pt-PT" dirty="0"/>
              <a:t> e comportamento estável.</a:t>
            </a:r>
          </a:p>
          <a:p>
            <a:pPr lvl="1"/>
            <a:r>
              <a:rPr lang="pt-PT" b="1" dirty="0"/>
              <a:t>DeepSeek-R1:8B</a:t>
            </a:r>
            <a:r>
              <a:rPr lang="pt-PT" dirty="0"/>
              <a:t> e </a:t>
            </a:r>
            <a:r>
              <a:rPr lang="pt-PT" b="1" dirty="0"/>
              <a:t>Qwen3:4B</a:t>
            </a:r>
            <a:r>
              <a:rPr lang="pt-PT" dirty="0"/>
              <a:t> obtiveram </a:t>
            </a:r>
            <a:r>
              <a:rPr lang="pt-PT" b="1" dirty="0"/>
              <a:t>0 % de precisão</a:t>
            </a:r>
            <a:r>
              <a:rPr lang="pt-PT" dirty="0"/>
              <a:t>, devido a alucinações nos resultados.</a:t>
            </a:r>
          </a:p>
          <a:p>
            <a:r>
              <a:rPr lang="pt-PT" b="1" dirty="0"/>
              <a:t>Velocidade e Tempo de Resposta:</a:t>
            </a:r>
            <a:endParaRPr lang="pt-PT" dirty="0"/>
          </a:p>
          <a:p>
            <a:pPr lvl="1"/>
            <a:r>
              <a:rPr lang="pt-PT" b="1" dirty="0"/>
              <a:t>Gemma3:4B</a:t>
            </a:r>
            <a:r>
              <a:rPr lang="pt-PT" dirty="0"/>
              <a:t> foi o </a:t>
            </a:r>
            <a:r>
              <a:rPr lang="pt-PT" b="1" dirty="0"/>
              <a:t>mais rápido (≈ 2,9 s)</a:t>
            </a:r>
            <a:r>
              <a:rPr lang="pt-PT" dirty="0"/>
              <a:t> e estável, com bom desempenho em </a:t>
            </a:r>
            <a:r>
              <a:rPr lang="pt-PT" dirty="0" err="1"/>
              <a:t>tokens</a:t>
            </a:r>
            <a:r>
              <a:rPr lang="pt-PT" dirty="0"/>
              <a:t>/s (≈ 30).</a:t>
            </a:r>
          </a:p>
          <a:p>
            <a:pPr lvl="1"/>
            <a:r>
              <a:rPr lang="pt-PT" b="1" dirty="0"/>
              <a:t>Qwen3:4B</a:t>
            </a:r>
            <a:r>
              <a:rPr lang="pt-PT" dirty="0"/>
              <a:t> processou </a:t>
            </a:r>
            <a:r>
              <a:rPr lang="pt-PT" b="1" dirty="0"/>
              <a:t>mais </a:t>
            </a:r>
            <a:r>
              <a:rPr lang="pt-PT" b="1" dirty="0" err="1"/>
              <a:t>tokens</a:t>
            </a:r>
            <a:r>
              <a:rPr lang="pt-PT" b="1" dirty="0"/>
              <a:t>/s (≈ 69)</a:t>
            </a:r>
            <a:r>
              <a:rPr lang="pt-PT" dirty="0"/>
              <a:t>, mas com tempos mais longos (~ 61 s).</a:t>
            </a:r>
          </a:p>
          <a:p>
            <a:pPr lvl="1"/>
            <a:r>
              <a:rPr lang="pt-PT" b="1" dirty="0"/>
              <a:t>GPT-OSS:120B</a:t>
            </a:r>
            <a:r>
              <a:rPr lang="pt-PT" dirty="0"/>
              <a:t> foi o </a:t>
            </a:r>
            <a:r>
              <a:rPr lang="pt-PT" b="1" dirty="0"/>
              <a:t>mais lento (≈ 595 s)</a:t>
            </a:r>
            <a:r>
              <a:rPr lang="pt-PT" dirty="0"/>
              <a:t>.</a:t>
            </a:r>
          </a:p>
          <a:p>
            <a:r>
              <a:rPr lang="pt-PT" b="1" dirty="0"/>
              <a:t>Impacto da Quantidade de </a:t>
            </a:r>
            <a:r>
              <a:rPr lang="pt-PT" b="1" dirty="0" err="1"/>
              <a:t>Logs</a:t>
            </a:r>
            <a:r>
              <a:rPr lang="pt-PT" b="1" dirty="0"/>
              <a:t>:</a:t>
            </a:r>
            <a:endParaRPr lang="pt-PT" dirty="0"/>
          </a:p>
          <a:p>
            <a:pPr lvl="1"/>
            <a:r>
              <a:rPr lang="pt-PT" dirty="0"/>
              <a:t>O </a:t>
            </a:r>
            <a:r>
              <a:rPr lang="pt-PT" b="1" dirty="0"/>
              <a:t>Gemma3:4B</a:t>
            </a:r>
            <a:r>
              <a:rPr lang="pt-PT" dirty="0"/>
              <a:t> manteve desempenho consistente mesmo com mais </a:t>
            </a:r>
            <a:r>
              <a:rPr lang="pt-PT" dirty="0" err="1"/>
              <a:t>logs</a:t>
            </a:r>
            <a:r>
              <a:rPr lang="pt-PT" dirty="0"/>
              <a:t>.</a:t>
            </a:r>
          </a:p>
          <a:p>
            <a:pPr lvl="1"/>
            <a:r>
              <a:rPr lang="pt-PT" dirty="0"/>
              <a:t>O </a:t>
            </a:r>
            <a:r>
              <a:rPr lang="pt-PT" b="1" dirty="0"/>
              <a:t>GPT-OSS:120B</a:t>
            </a:r>
            <a:r>
              <a:rPr lang="pt-PT" dirty="0"/>
              <a:t> degradou significativamente o tempo e precisão com o aumento do </a:t>
            </a:r>
            <a:r>
              <a:rPr lang="pt-PT" dirty="0" err="1"/>
              <a:t>meta_log_limit</a:t>
            </a:r>
            <a:r>
              <a:rPr lang="pt-PT" dirty="0"/>
              <a:t>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75987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A41D4-BD84-B1EB-4A21-A5118DE5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7D304-8498-1A32-2EB1-F02D578BA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Análise de resultados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1C3A1A7-EB25-A46F-D604-DE38A3BAD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29651"/>
              </p:ext>
            </p:extLst>
          </p:nvPr>
        </p:nvGraphicFramePr>
        <p:xfrm>
          <a:off x="677863" y="2318226"/>
          <a:ext cx="8596311" cy="3566160"/>
        </p:xfrm>
        <a:graphic>
          <a:graphicData uri="http://schemas.openxmlformats.org/drawingml/2006/table">
            <a:tbl>
              <a:tblPr firstRow="1" lastRow="1"/>
              <a:tblGrid>
                <a:gridCol w="2865437">
                  <a:extLst>
                    <a:ext uri="{9D8B030D-6E8A-4147-A177-3AD203B41FA5}">
                      <a16:colId xmlns:a16="http://schemas.microsoft.com/office/drawing/2014/main" val="3716855692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82286504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7885244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Critério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Melhor Modelo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Observação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873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Precisão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GPT-OSS:120B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Maior qualidade, mas lento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859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Tempo de Resposta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Gemma3:4B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Rápido e estável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15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Velocidade (tokens/s)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Qwen3:4B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Muito rápido, mas impreciso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92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Escalabilidade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Gemma3:4B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Pouco afetado por mais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6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b="1"/>
                        <a:t>Eficiência Global</a:t>
                      </a:r>
                      <a:endParaRPr lang="pt-P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b="1"/>
                        <a:t>Gemma3:4B</a:t>
                      </a:r>
                      <a:endParaRPr lang="pt-P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Melhor equilíbrio entre tempo, velocidade e precisão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901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0221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73cc0d-225c-4cd1-9155-48906582868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E9766BA3B993949BCE30BFE8D21E382" ma:contentTypeVersion="6" ma:contentTypeDescription="Criar um novo documento." ma:contentTypeScope="" ma:versionID="98e7defb4485da00722ee042d18ec4cd">
  <xsd:schema xmlns:xsd="http://www.w3.org/2001/XMLSchema" xmlns:xs="http://www.w3.org/2001/XMLSchema" xmlns:p="http://schemas.microsoft.com/office/2006/metadata/properties" xmlns:ns3="ed73cc0d-225c-4cd1-9155-489065828688" targetNamespace="http://schemas.microsoft.com/office/2006/metadata/properties" ma:root="true" ma:fieldsID="8083eb3c91718fffef269c5dfeb55fdc" ns3:_="">
    <xsd:import namespace="ed73cc0d-225c-4cd1-9155-4890658286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3cc0d-225c-4cd1-9155-4890658286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21189C-7AAE-4008-AE16-E100DF0891FA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ed73cc0d-225c-4cd1-9155-489065828688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CCFC0B6-C6A6-4889-9D8D-B5B0DEDD95CA}">
  <ds:schemaRefs>
    <ds:schemaRef ds:uri="ed73cc0d-225c-4cd1-9155-4890658286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1D6223F-590C-472C-B53D-D79A82E0BC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205</Words>
  <Application>Microsoft Office PowerPoint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</vt:lpstr>
      <vt:lpstr>Métricas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Análise de resultados</vt:lpstr>
      <vt:lpstr>Análise de resultados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Rodrigo Correia</dc:creator>
  <cp:keywords/>
  <dc:description>generated using python-pptx</dc:description>
  <cp:lastModifiedBy>Rodrigo Tiago da Costa Correia</cp:lastModifiedBy>
  <cp:revision>2</cp:revision>
  <dcterms:created xsi:type="dcterms:W3CDTF">2013-01-27T09:14:16Z</dcterms:created>
  <dcterms:modified xsi:type="dcterms:W3CDTF">2025-11-09T17:12:24Z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0x0101002E9766BA3B993949BCE30BFE8D21E382</vt:lpwstr>
  </property>
</Properties>
</file>