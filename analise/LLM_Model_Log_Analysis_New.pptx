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sldIdLst>
    <p:sldId id="256" r:id="rId5"/>
    <p:sldId id="271" r:id="rId6"/>
    <p:sldId id="268" r:id="rId7"/>
    <p:sldId id="260" r:id="rId8"/>
    <p:sldId id="261" r:id="rId9"/>
    <p:sldId id="269" r:id="rId10"/>
    <p:sldId id="262" r:id="rId11"/>
    <p:sldId id="263" r:id="rId12"/>
    <p:sldId id="270" r:id="rId13"/>
    <p:sldId id="264" r:id="rId14"/>
    <p:sldId id="265" r:id="rId15"/>
    <p:sldId id="266" r:id="rId16"/>
    <p:sldId id="267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BD41D5-E08D-4BA3-92F4-E7E95B58653E}" v="3" dt="2025-11-09T17:12:24.2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3"/>
  </p:normalViewPr>
  <p:slideViewPr>
    <p:cSldViewPr snapToGrid="0">
      <p:cViewPr>
        <p:scale>
          <a:sx n="100" d="100"/>
          <a:sy n="100" d="100"/>
        </p:scale>
        <p:origin x="258" y="18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t-PT" noProof="0" dirty="0"/>
              <a:t>Precisão por Quantidade de </a:t>
            </a:r>
            <a:r>
              <a:rPr lang="pt-PT" noProof="0" dirty="0" err="1"/>
              <a:t>Logs</a:t>
            </a:r>
            <a:r>
              <a:rPr lang="pt-PT" noProof="0" dirty="0"/>
              <a:t> - deepseek-r1:8b (Antes)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gpt-oss:120b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tint val="96000"/>
                    <a:lumMod val="100000"/>
                  </a:schemeClr>
                </a:gs>
                <a:gs pos="78000">
                  <a:schemeClr val="accent1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</c:numCache>
            </c:numRef>
          </c:val>
          <c:extLst>
            <c:ext xmlns:c16="http://schemas.microsoft.com/office/drawing/2014/chart" uri="{C3380CC4-5D6E-409C-BE32-E72D297353CC}">
              <c16:uniqueId val="{00000000-C76C-4CFA-ADFE-5221D56D0E9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deepseek-r1:8b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tint val="96000"/>
                    <a:lumMod val="100000"/>
                  </a:schemeClr>
                </a:gs>
                <a:gs pos="78000">
                  <a:schemeClr val="accent2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Sheet1!$C$2:$C$4</c:f>
              <c:numCache>
                <c:formatCode>General</c:formatCode>
                <c:ptCount val="3"/>
              </c:numCache>
            </c:numRef>
          </c:val>
          <c:extLst>
            <c:ext xmlns:c16="http://schemas.microsoft.com/office/drawing/2014/chart" uri="{C3380CC4-5D6E-409C-BE32-E72D297353CC}">
              <c16:uniqueId val="{00000001-C76C-4CFA-ADFE-5221D56D0E9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gemma3:4b</c:v>
                </c:pt>
              </c:strCache>
            </c:strRef>
          </c:tx>
          <c:spPr>
            <a:gradFill rotWithShape="1">
              <a:gsLst>
                <a:gs pos="0">
                  <a:schemeClr val="accent3">
                    <a:tint val="96000"/>
                    <a:lumMod val="100000"/>
                  </a:schemeClr>
                </a:gs>
                <a:gs pos="78000">
                  <a:schemeClr val="accent3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Sheet1!$D$2:$D$4</c:f>
              <c:numCache>
                <c:formatCode>General</c:formatCode>
                <c:ptCount val="3"/>
              </c:numCache>
            </c:numRef>
          </c:val>
          <c:extLst>
            <c:ext xmlns:c16="http://schemas.microsoft.com/office/drawing/2014/chart" uri="{C3380CC4-5D6E-409C-BE32-E72D297353CC}">
              <c16:uniqueId val="{00000002-C76C-4CFA-ADFE-5221D56D0E9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qwen3:4b</c:v>
                </c:pt>
              </c:strCache>
            </c:strRef>
          </c:tx>
          <c:spPr>
            <a:gradFill rotWithShape="1">
              <a:gsLst>
                <a:gs pos="0">
                  <a:schemeClr val="accent4">
                    <a:tint val="96000"/>
                    <a:lumMod val="100000"/>
                  </a:schemeClr>
                </a:gs>
                <a:gs pos="78000">
                  <a:schemeClr val="accent4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Sheet1!$E$2:$E$4</c:f>
              <c:numCache>
                <c:formatCode>General</c:formatCode>
                <c:ptCount val="3"/>
              </c:numCache>
            </c:numRef>
          </c:val>
          <c:extLst>
            <c:ext xmlns:c16="http://schemas.microsoft.com/office/drawing/2014/chart" uri="{C3380CC4-5D6E-409C-BE32-E72D297353CC}">
              <c16:uniqueId val="{00000003-C76C-4CFA-ADFE-5221D56D0E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17997920"/>
        <c:axId val="17999360"/>
      </c:barChart>
      <c:catAx>
        <c:axId val="179979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9360"/>
        <c:crosses val="autoZero"/>
        <c:auto val="1"/>
        <c:lblAlgn val="ctr"/>
        <c:lblOffset val="100"/>
        <c:noMultiLvlLbl val="0"/>
      </c:catAx>
      <c:valAx>
        <c:axId val="17999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792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t-PT" noProof="0" dirty="0"/>
              <a:t>Precisão por Quantidade de </a:t>
            </a:r>
            <a:r>
              <a:rPr lang="pt-PT" noProof="0" dirty="0" err="1"/>
              <a:t>Logs</a:t>
            </a:r>
            <a:r>
              <a:rPr lang="pt-PT" noProof="0" dirty="0"/>
              <a:t> - deepseek-r1:8b (Depois)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gpt-oss:120b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tint val="96000"/>
                    <a:lumMod val="100000"/>
                  </a:schemeClr>
                </a:gs>
                <a:gs pos="78000">
                  <a:schemeClr val="accent1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4</c:v>
                </c:pt>
                <c:pt idx="2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3CE-4667-AAFE-94BF9D77E90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deepseek-r1:8b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tint val="96000"/>
                    <a:lumMod val="100000"/>
                  </a:schemeClr>
                </a:gs>
                <a:gs pos="78000">
                  <a:schemeClr val="accent2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4</c:v>
                </c:pt>
                <c:pt idx="2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3CE-4667-AAFE-94BF9D77E90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gemma3:4b</c:v>
                </c:pt>
              </c:strCache>
            </c:strRef>
          </c:tx>
          <c:spPr>
            <a:gradFill rotWithShape="1">
              <a:gsLst>
                <a:gs pos="0">
                  <a:schemeClr val="accent3">
                    <a:tint val="96000"/>
                    <a:lumMod val="100000"/>
                  </a:schemeClr>
                </a:gs>
                <a:gs pos="78000">
                  <a:schemeClr val="accent3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Sheet1!$D$2:$D$4</c:f>
              <c:numCache>
                <c:formatCode>General</c:formatCode>
                <c:ptCount val="3"/>
                <c:pt idx="0">
                  <c:v>20</c:v>
                </c:pt>
                <c:pt idx="1">
                  <c:v>4</c:v>
                </c:pt>
                <c:pt idx="2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3CE-4667-AAFE-94BF9D77E90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qwen3:4b</c:v>
                </c:pt>
              </c:strCache>
            </c:strRef>
          </c:tx>
          <c:spPr>
            <a:gradFill rotWithShape="1">
              <a:gsLst>
                <a:gs pos="0">
                  <a:schemeClr val="accent4">
                    <a:tint val="96000"/>
                    <a:lumMod val="100000"/>
                  </a:schemeClr>
                </a:gs>
                <a:gs pos="78000">
                  <a:schemeClr val="accent4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Sheet1!$E$2:$E$4</c:f>
              <c:numCache>
                <c:formatCode>General</c:formatCode>
                <c:ptCount val="3"/>
                <c:pt idx="0">
                  <c:v>20</c:v>
                </c:pt>
                <c:pt idx="1">
                  <c:v>4</c:v>
                </c:pt>
                <c:pt idx="2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CE-4667-AAFE-94BF9D77E9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17997920"/>
        <c:axId val="17999360"/>
      </c:barChart>
      <c:catAx>
        <c:axId val="179979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9360"/>
        <c:crosses val="autoZero"/>
        <c:auto val="1"/>
        <c:lblAlgn val="ctr"/>
        <c:lblOffset val="100"/>
        <c:noMultiLvlLbl val="0"/>
      </c:catAx>
      <c:valAx>
        <c:axId val="17999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792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t-PT" noProof="0" dirty="0"/>
              <a:t>Precisão por Quantidade de </a:t>
            </a:r>
            <a:r>
              <a:rPr lang="pt-PT" noProof="0" dirty="0" err="1"/>
              <a:t>Logs</a:t>
            </a:r>
            <a:r>
              <a:rPr lang="pt-PT" noProof="0" dirty="0"/>
              <a:t> - gpt-oss:120b (Antes)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gpt-oss:120b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tint val="96000"/>
                    <a:lumMod val="100000"/>
                  </a:schemeClr>
                </a:gs>
                <a:gs pos="78000">
                  <a:schemeClr val="accent1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2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2F1-492E-BE01-917362E1C5E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deepseek-r1:8b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tint val="96000"/>
                    <a:lumMod val="100000"/>
                  </a:schemeClr>
                </a:gs>
                <a:gs pos="78000">
                  <a:schemeClr val="accent2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0</c:v>
                </c:pt>
                <c:pt idx="2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2F1-492E-BE01-917362E1C5E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gemma3:4b</c:v>
                </c:pt>
              </c:strCache>
            </c:strRef>
          </c:tx>
          <c:spPr>
            <a:gradFill rotWithShape="1">
              <a:gsLst>
                <a:gs pos="0">
                  <a:schemeClr val="accent3">
                    <a:tint val="96000"/>
                    <a:lumMod val="100000"/>
                  </a:schemeClr>
                </a:gs>
                <a:gs pos="78000">
                  <a:schemeClr val="accent3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Sheet1!$D$2:$D$4</c:f>
              <c:numCache>
                <c:formatCode>General</c:formatCode>
                <c:ptCount val="3"/>
                <c:pt idx="0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2F1-492E-BE01-917362E1C5E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qwen3:4b</c:v>
                </c:pt>
              </c:strCache>
            </c:strRef>
          </c:tx>
          <c:spPr>
            <a:gradFill rotWithShape="1">
              <a:gsLst>
                <a:gs pos="0">
                  <a:schemeClr val="accent4">
                    <a:tint val="96000"/>
                    <a:lumMod val="100000"/>
                  </a:schemeClr>
                </a:gs>
                <a:gs pos="78000">
                  <a:schemeClr val="accent4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Sheet1!$E$2:$E$4</c:f>
              <c:numCache>
                <c:formatCode>General</c:formatCode>
                <c:ptCount val="3"/>
                <c:pt idx="0">
                  <c:v>20</c:v>
                </c:pt>
                <c:pt idx="2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2F1-492E-BE01-917362E1C5E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17997920"/>
        <c:axId val="17999360"/>
      </c:barChart>
      <c:catAx>
        <c:axId val="179979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9360"/>
        <c:crosses val="autoZero"/>
        <c:auto val="1"/>
        <c:lblAlgn val="ctr"/>
        <c:lblOffset val="100"/>
        <c:noMultiLvlLbl val="0"/>
      </c:catAx>
      <c:valAx>
        <c:axId val="17999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792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t-PT" noProof="0" dirty="0"/>
              <a:t>Precisão por Quantidade de </a:t>
            </a:r>
            <a:r>
              <a:rPr lang="pt-PT" noProof="0" dirty="0" err="1"/>
              <a:t>Logs</a:t>
            </a:r>
            <a:r>
              <a:rPr lang="pt-PT" noProof="0" dirty="0"/>
              <a:t> - gpt-oss:120b (Depois)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gpt-oss:120b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tint val="96000"/>
                    <a:lumMod val="100000"/>
                  </a:schemeClr>
                </a:gs>
                <a:gs pos="78000">
                  <a:schemeClr val="accent1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4</c:v>
                </c:pt>
                <c:pt idx="2">
                  <c:v>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CB7-4DA4-861E-8A397535B4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deepseek-r1:8b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tint val="96000"/>
                    <a:lumMod val="100000"/>
                  </a:schemeClr>
                </a:gs>
                <a:gs pos="78000">
                  <a:schemeClr val="accent2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4</c:v>
                </c:pt>
                <c:pt idx="2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CB7-4DA4-861E-8A397535B43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gemma3:4b</c:v>
                </c:pt>
              </c:strCache>
            </c:strRef>
          </c:tx>
          <c:spPr>
            <a:gradFill rotWithShape="1">
              <a:gsLst>
                <a:gs pos="0">
                  <a:schemeClr val="accent3">
                    <a:tint val="96000"/>
                    <a:lumMod val="100000"/>
                  </a:schemeClr>
                </a:gs>
                <a:gs pos="78000">
                  <a:schemeClr val="accent3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Sheet1!$D$2:$D$4</c:f>
              <c:numCache>
                <c:formatCode>General</c:formatCode>
                <c:ptCount val="3"/>
                <c:pt idx="0">
                  <c:v>20</c:v>
                </c:pt>
                <c:pt idx="1">
                  <c:v>48</c:v>
                </c:pt>
                <c:pt idx="2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CB7-4DA4-861E-8A397535B43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qwen3:4b</c:v>
                </c:pt>
              </c:strCache>
            </c:strRef>
          </c:tx>
          <c:spPr>
            <a:gradFill rotWithShape="1">
              <a:gsLst>
                <a:gs pos="0">
                  <a:schemeClr val="accent4">
                    <a:tint val="96000"/>
                    <a:lumMod val="100000"/>
                  </a:schemeClr>
                </a:gs>
                <a:gs pos="78000">
                  <a:schemeClr val="accent4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Sheet1!$E$2:$E$4</c:f>
              <c:numCache>
                <c:formatCode>General</c:formatCode>
                <c:ptCount val="3"/>
                <c:pt idx="0">
                  <c:v>20</c:v>
                </c:pt>
                <c:pt idx="1">
                  <c:v>4</c:v>
                </c:pt>
                <c:pt idx="2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0CB7-4DA4-861E-8A397535B4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17997920"/>
        <c:axId val="17999360"/>
      </c:barChart>
      <c:catAx>
        <c:axId val="179979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9360"/>
        <c:crosses val="autoZero"/>
        <c:auto val="1"/>
        <c:lblAlgn val="ctr"/>
        <c:lblOffset val="100"/>
        <c:noMultiLvlLbl val="0"/>
      </c:catAx>
      <c:valAx>
        <c:axId val="17999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792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t-PT" noProof="0" dirty="0"/>
              <a:t>Precisão por Quantidade de </a:t>
            </a:r>
            <a:r>
              <a:rPr lang="pt-PT" noProof="0" dirty="0" err="1"/>
              <a:t>Logs</a:t>
            </a:r>
            <a:r>
              <a:rPr lang="pt-PT" noProof="0" dirty="0"/>
              <a:t> - qwen3:4b (Antes)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gpt-oss:120b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tint val="96000"/>
                    <a:lumMod val="100000"/>
                  </a:schemeClr>
                </a:gs>
                <a:gs pos="78000">
                  <a:schemeClr val="accent1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</c:numCache>
            </c:numRef>
          </c:val>
          <c:extLst>
            <c:ext xmlns:c16="http://schemas.microsoft.com/office/drawing/2014/chart" uri="{C3380CC4-5D6E-409C-BE32-E72D297353CC}">
              <c16:uniqueId val="{00000000-A20A-49FD-A8C5-4EE760D9CCB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deepseek-r1:8b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tint val="96000"/>
                    <a:lumMod val="100000"/>
                  </a:schemeClr>
                </a:gs>
                <a:gs pos="78000">
                  <a:schemeClr val="accent2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Sheet1!$C$2:$C$4</c:f>
              <c:numCache>
                <c:formatCode>General</c:formatCode>
                <c:ptCount val="3"/>
              </c:numCache>
            </c:numRef>
          </c:val>
          <c:extLst>
            <c:ext xmlns:c16="http://schemas.microsoft.com/office/drawing/2014/chart" uri="{C3380CC4-5D6E-409C-BE32-E72D297353CC}">
              <c16:uniqueId val="{00000001-A20A-49FD-A8C5-4EE760D9CCB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gemma3:4b</c:v>
                </c:pt>
              </c:strCache>
            </c:strRef>
          </c:tx>
          <c:spPr>
            <a:gradFill rotWithShape="1">
              <a:gsLst>
                <a:gs pos="0">
                  <a:schemeClr val="accent3">
                    <a:tint val="96000"/>
                    <a:lumMod val="100000"/>
                  </a:schemeClr>
                </a:gs>
                <a:gs pos="78000">
                  <a:schemeClr val="accent3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Sheet1!$D$2:$D$4</c:f>
              <c:numCache>
                <c:formatCode>General</c:formatCode>
                <c:ptCount val="3"/>
              </c:numCache>
            </c:numRef>
          </c:val>
          <c:extLst>
            <c:ext xmlns:c16="http://schemas.microsoft.com/office/drawing/2014/chart" uri="{C3380CC4-5D6E-409C-BE32-E72D297353CC}">
              <c16:uniqueId val="{00000002-A20A-49FD-A8C5-4EE760D9CCB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qwen3:4b</c:v>
                </c:pt>
              </c:strCache>
            </c:strRef>
          </c:tx>
          <c:spPr>
            <a:gradFill rotWithShape="1">
              <a:gsLst>
                <a:gs pos="0">
                  <a:schemeClr val="accent4">
                    <a:tint val="96000"/>
                    <a:lumMod val="100000"/>
                  </a:schemeClr>
                </a:gs>
                <a:gs pos="78000">
                  <a:schemeClr val="accent4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Sheet1!$E$2:$E$4</c:f>
              <c:numCache>
                <c:formatCode>General</c:formatCode>
                <c:ptCount val="3"/>
              </c:numCache>
            </c:numRef>
          </c:val>
          <c:extLst>
            <c:ext xmlns:c16="http://schemas.microsoft.com/office/drawing/2014/chart" uri="{C3380CC4-5D6E-409C-BE32-E72D297353CC}">
              <c16:uniqueId val="{00000003-A20A-49FD-A8C5-4EE760D9CC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17997920"/>
        <c:axId val="17999360"/>
      </c:barChart>
      <c:catAx>
        <c:axId val="179979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9360"/>
        <c:crosses val="autoZero"/>
        <c:auto val="1"/>
        <c:lblAlgn val="ctr"/>
        <c:lblOffset val="100"/>
        <c:noMultiLvlLbl val="0"/>
      </c:catAx>
      <c:valAx>
        <c:axId val="17999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792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t-PT" noProof="0" dirty="0"/>
              <a:t>Precisão por Quantidade de </a:t>
            </a:r>
            <a:r>
              <a:rPr lang="pt-PT" noProof="0" dirty="0" err="1"/>
              <a:t>Logs</a:t>
            </a:r>
            <a:r>
              <a:rPr lang="pt-PT" noProof="0" dirty="0"/>
              <a:t> - qwen3:4b (Depois)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gpt-oss:120b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tint val="96000"/>
                    <a:lumMod val="100000"/>
                  </a:schemeClr>
                </a:gs>
                <a:gs pos="78000">
                  <a:schemeClr val="accent1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4</c:v>
                </c:pt>
                <c:pt idx="2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3C-411A-B01B-56EF583E6AB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deepseek-r1:8b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tint val="96000"/>
                    <a:lumMod val="100000"/>
                  </a:schemeClr>
                </a:gs>
                <a:gs pos="78000">
                  <a:schemeClr val="accent2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4</c:v>
                </c:pt>
                <c:pt idx="2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73C-411A-B01B-56EF583E6AB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gemma3:4b</c:v>
                </c:pt>
              </c:strCache>
            </c:strRef>
          </c:tx>
          <c:spPr>
            <a:gradFill rotWithShape="1">
              <a:gsLst>
                <a:gs pos="0">
                  <a:schemeClr val="accent3">
                    <a:tint val="96000"/>
                    <a:lumMod val="100000"/>
                  </a:schemeClr>
                </a:gs>
                <a:gs pos="78000">
                  <a:schemeClr val="accent3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Sheet1!$D$2:$D$4</c:f>
              <c:numCache>
                <c:formatCode>General</c:formatCode>
                <c:ptCount val="3"/>
                <c:pt idx="0">
                  <c:v>20</c:v>
                </c:pt>
                <c:pt idx="1">
                  <c:v>4</c:v>
                </c:pt>
                <c:pt idx="2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73C-411A-B01B-56EF583E6AB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qwen3:4b</c:v>
                </c:pt>
              </c:strCache>
            </c:strRef>
          </c:tx>
          <c:spPr>
            <a:gradFill rotWithShape="1">
              <a:gsLst>
                <a:gs pos="0">
                  <a:schemeClr val="accent4">
                    <a:tint val="96000"/>
                    <a:lumMod val="100000"/>
                  </a:schemeClr>
                </a:gs>
                <a:gs pos="78000">
                  <a:schemeClr val="accent4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Sheet1!$E$2:$E$4</c:f>
              <c:numCache>
                <c:formatCode>General</c:formatCode>
                <c:ptCount val="3"/>
                <c:pt idx="0">
                  <c:v>20</c:v>
                </c:pt>
                <c:pt idx="1">
                  <c:v>4</c:v>
                </c:pt>
                <c:pt idx="2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73C-411A-B01B-56EF583E6A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17997920"/>
        <c:axId val="17999360"/>
      </c:barChart>
      <c:catAx>
        <c:axId val="179979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9360"/>
        <c:crosses val="autoZero"/>
        <c:auto val="1"/>
        <c:lblAlgn val="ctr"/>
        <c:lblOffset val="100"/>
        <c:noMultiLvlLbl val="0"/>
      </c:catAx>
      <c:valAx>
        <c:axId val="17999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792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t-PT" noProof="0" dirty="0"/>
              <a:t>Precisão por Quantidade de </a:t>
            </a:r>
            <a:r>
              <a:rPr lang="pt-PT" noProof="0" dirty="0" err="1"/>
              <a:t>Logs</a:t>
            </a:r>
            <a:r>
              <a:rPr lang="pt-PT" noProof="0" dirty="0"/>
              <a:t> - gemma3:4b (Depois)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gpt-oss:120b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tint val="96000"/>
                    <a:lumMod val="100000"/>
                  </a:schemeClr>
                </a:gs>
                <a:gs pos="78000">
                  <a:schemeClr val="accent1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8</c:v>
                </c:pt>
                <c:pt idx="2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A50-4609-B4FE-714560441F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deepseek-r1:8b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tint val="96000"/>
                    <a:lumMod val="100000"/>
                  </a:schemeClr>
                </a:gs>
                <a:gs pos="78000">
                  <a:schemeClr val="accent2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Sheet1!$C$2:$C$4</c:f>
              <c:numCache>
                <c:formatCode>General</c:formatCode>
                <c:ptCount val="3"/>
                <c:pt idx="0">
                  <c:v>40</c:v>
                </c:pt>
                <c:pt idx="1">
                  <c:v>8</c:v>
                </c:pt>
                <c:pt idx="2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A50-4609-B4FE-714560441F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gemma3:4b</c:v>
                </c:pt>
              </c:strCache>
            </c:strRef>
          </c:tx>
          <c:spPr>
            <a:gradFill rotWithShape="1">
              <a:gsLst>
                <a:gs pos="0">
                  <a:schemeClr val="accent3">
                    <a:tint val="96000"/>
                    <a:lumMod val="100000"/>
                  </a:schemeClr>
                </a:gs>
                <a:gs pos="78000">
                  <a:schemeClr val="accent3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Sheet1!$D$2:$D$4</c:f>
              <c:numCache>
                <c:formatCode>General</c:formatCode>
                <c:ptCount val="3"/>
                <c:pt idx="0">
                  <c:v>40</c:v>
                </c:pt>
                <c:pt idx="1">
                  <c:v>8</c:v>
                </c:pt>
                <c:pt idx="2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A50-4609-B4FE-714560441F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qwen3:4b</c:v>
                </c:pt>
              </c:strCache>
            </c:strRef>
          </c:tx>
          <c:spPr>
            <a:gradFill rotWithShape="1">
              <a:gsLst>
                <a:gs pos="0">
                  <a:schemeClr val="accent4">
                    <a:tint val="96000"/>
                    <a:lumMod val="100000"/>
                  </a:schemeClr>
                </a:gs>
                <a:gs pos="78000">
                  <a:schemeClr val="accent4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Sheet1!$E$2:$E$4</c:f>
              <c:numCache>
                <c:formatCode>General</c:formatCode>
                <c:ptCount val="3"/>
                <c:pt idx="0">
                  <c:v>40</c:v>
                </c:pt>
                <c:pt idx="1">
                  <c:v>8</c:v>
                </c:pt>
                <c:pt idx="2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50-4609-B4FE-714560441F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17997920"/>
        <c:axId val="17999360"/>
      </c:barChart>
      <c:catAx>
        <c:axId val="179979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9360"/>
        <c:crosses val="autoZero"/>
        <c:auto val="1"/>
        <c:lblAlgn val="ctr"/>
        <c:lblOffset val="100"/>
        <c:noMultiLvlLbl val="0"/>
      </c:catAx>
      <c:valAx>
        <c:axId val="17999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792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t-PT" noProof="0" dirty="0"/>
              <a:t>Precisão por Quantidade de </a:t>
            </a:r>
            <a:r>
              <a:rPr lang="pt-PT" noProof="0" dirty="0" err="1"/>
              <a:t>Logs</a:t>
            </a:r>
            <a:r>
              <a:rPr lang="pt-PT" noProof="0" dirty="0"/>
              <a:t> - gemma3:4b (Antes)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gpt-oss:120b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tint val="96000"/>
                    <a:lumMod val="100000"/>
                  </a:schemeClr>
                </a:gs>
                <a:gs pos="78000">
                  <a:schemeClr val="accent1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4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AB1-4B95-B8BA-F1D83386335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deepseek-r1:8b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tint val="96000"/>
                    <a:lumMod val="100000"/>
                  </a:schemeClr>
                </a:gs>
                <a:gs pos="78000">
                  <a:schemeClr val="accent2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4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AB1-4B95-B8BA-F1D83386335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gemma3:4b</c:v>
                </c:pt>
              </c:strCache>
            </c:strRef>
          </c:tx>
          <c:spPr>
            <a:gradFill rotWithShape="1">
              <a:gsLst>
                <a:gs pos="0">
                  <a:schemeClr val="accent3">
                    <a:tint val="96000"/>
                    <a:lumMod val="100000"/>
                  </a:schemeClr>
                </a:gs>
                <a:gs pos="78000">
                  <a:schemeClr val="accent3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Sheet1!$D$2:$D$4</c:f>
              <c:numCache>
                <c:formatCode>General</c:formatCode>
                <c:ptCount val="3"/>
                <c:pt idx="0">
                  <c:v>20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AB1-4B95-B8BA-F1D83386335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qwen3:4b</c:v>
                </c:pt>
              </c:strCache>
            </c:strRef>
          </c:tx>
          <c:spPr>
            <a:gradFill rotWithShape="1">
              <a:gsLst>
                <a:gs pos="0">
                  <a:schemeClr val="accent4">
                    <a:tint val="96000"/>
                    <a:lumMod val="100000"/>
                  </a:schemeClr>
                </a:gs>
                <a:gs pos="78000">
                  <a:schemeClr val="accent4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Sheet1!$E$2:$E$4</c:f>
              <c:numCache>
                <c:formatCode>General</c:formatCode>
                <c:ptCount val="3"/>
                <c:pt idx="0">
                  <c:v>20</c:v>
                </c:pt>
                <c:pt idx="1">
                  <c:v>4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AB1-4B95-B8BA-F1D8338633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17997920"/>
        <c:axId val="17999360"/>
      </c:barChart>
      <c:catAx>
        <c:axId val="179979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9360"/>
        <c:crosses val="autoZero"/>
        <c:auto val="1"/>
        <c:lblAlgn val="ctr"/>
        <c:lblOffset val="100"/>
        <c:noMultiLvlLbl val="0"/>
      </c:catAx>
      <c:valAx>
        <c:axId val="17999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792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t-PT" noProof="0" dirty="0" err="1"/>
              <a:t>Tokens</a:t>
            </a:r>
            <a:r>
              <a:rPr lang="en-US" noProof="0" dirty="0"/>
              <a:t>/s</a:t>
            </a:r>
            <a:r>
              <a:rPr lang="en-US" baseline="0" noProof="0" dirty="0"/>
              <a:t> </a:t>
            </a:r>
            <a:r>
              <a:rPr lang="en-US" baseline="0" noProof="0" dirty="0" err="1"/>
              <a:t>por</a:t>
            </a:r>
            <a:r>
              <a:rPr lang="en-US" baseline="0" noProof="0" dirty="0"/>
              <a:t> </a:t>
            </a:r>
            <a:r>
              <a:rPr lang="en-US" baseline="0" noProof="0" dirty="0" err="1"/>
              <a:t>Quantidade</a:t>
            </a:r>
            <a:r>
              <a:rPr lang="en-US" baseline="0" noProof="0" dirty="0"/>
              <a:t> de Logs </a:t>
            </a:r>
            <a:r>
              <a:rPr lang="pt-PT" noProof="0" dirty="0"/>
              <a:t>- gpt-oss:120b (Antes)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gpt-oss:120b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tint val="96000"/>
                    <a:lumMod val="100000"/>
                  </a:schemeClr>
                </a:gs>
                <a:gs pos="78000">
                  <a:schemeClr val="accent1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0.38800000000000001</c:v>
                </c:pt>
                <c:pt idx="1">
                  <c:v>0.115</c:v>
                </c:pt>
                <c:pt idx="2">
                  <c:v>0.56799999999999995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E93-4E5A-931A-6DFE7D1AAD8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deepseek-r1:8b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tint val="96000"/>
                    <a:lumMod val="100000"/>
                  </a:schemeClr>
                </a:gs>
                <a:gs pos="78000">
                  <a:schemeClr val="accent2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0.58599999999999997</c:v>
                </c:pt>
                <c:pt idx="1">
                  <c:v>0.10199999999999999</c:v>
                </c:pt>
                <c:pt idx="2">
                  <c:v>0.92600000000000005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E93-4E5A-931A-6DFE7D1AAD8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gemma3:4b</c:v>
                </c:pt>
              </c:strCache>
            </c:strRef>
          </c:tx>
          <c:spPr>
            <a:gradFill rotWithShape="1">
              <a:gsLst>
                <a:gs pos="0">
                  <a:schemeClr val="accent3">
                    <a:tint val="96000"/>
                    <a:lumMod val="100000"/>
                  </a:schemeClr>
                </a:gs>
                <a:gs pos="78000">
                  <a:schemeClr val="accent3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0.70499999999999996</c:v>
                </c:pt>
                <c:pt idx="1">
                  <c:v>1.7749999999999999</c:v>
                </c:pt>
                <c:pt idx="2">
                  <c:v>0.34599999999999997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E93-4E5A-931A-6DFE7D1AAD8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qwen3:4b</c:v>
                </c:pt>
              </c:strCache>
            </c:strRef>
          </c:tx>
          <c:spPr>
            <a:gradFill rotWithShape="1">
              <a:gsLst>
                <a:gs pos="0">
                  <a:schemeClr val="accent4">
                    <a:tint val="96000"/>
                    <a:lumMod val="100000"/>
                  </a:schemeClr>
                </a:gs>
                <a:gs pos="78000">
                  <a:schemeClr val="accent4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0.77700000000000002</c:v>
                </c:pt>
                <c:pt idx="1">
                  <c:v>0.01</c:v>
                </c:pt>
                <c:pt idx="2">
                  <c:v>0.80600000000000005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E93-4E5A-931A-6DFE7D1AAD8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17997920"/>
        <c:axId val="17999360"/>
      </c:barChart>
      <c:catAx>
        <c:axId val="179979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9360"/>
        <c:crosses val="autoZero"/>
        <c:auto val="1"/>
        <c:lblAlgn val="ctr"/>
        <c:lblOffset val="100"/>
        <c:noMultiLvlLbl val="0"/>
      </c:catAx>
      <c:valAx>
        <c:axId val="17999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792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t-PT" noProof="0" dirty="0" err="1"/>
              <a:t>Tokens</a:t>
            </a:r>
            <a:r>
              <a:rPr lang="en-US" noProof="0" dirty="0"/>
              <a:t>/s</a:t>
            </a:r>
            <a:r>
              <a:rPr lang="en-US" baseline="0" noProof="0" dirty="0"/>
              <a:t> </a:t>
            </a:r>
            <a:r>
              <a:rPr lang="en-US" baseline="0" noProof="0" dirty="0" err="1"/>
              <a:t>por</a:t>
            </a:r>
            <a:r>
              <a:rPr lang="en-US" baseline="0" noProof="0" dirty="0"/>
              <a:t> </a:t>
            </a:r>
            <a:r>
              <a:rPr lang="en-US" baseline="0" noProof="0" dirty="0" err="1"/>
              <a:t>Quantidade</a:t>
            </a:r>
            <a:r>
              <a:rPr lang="en-US" baseline="0" noProof="0" dirty="0"/>
              <a:t> de Logs </a:t>
            </a:r>
            <a:r>
              <a:rPr lang="pt-PT" noProof="0" dirty="0"/>
              <a:t>- deepseek-r1:8b (Antes)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gpt-oss:120b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tint val="96000"/>
                    <a:lumMod val="100000"/>
                  </a:schemeClr>
                </a:gs>
                <a:gs pos="78000">
                  <a:schemeClr val="accent1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  <c:pt idx="0">
                  <c:v>6.2919999999999998</c:v>
                </c:pt>
                <c:pt idx="1">
                  <c:v>22.11</c:v>
                </c:pt>
                <c:pt idx="2">
                  <c:v>44.15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A3B-41B0-ABEC-842AD840208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deepseek-r1:8b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tint val="96000"/>
                    <a:lumMod val="100000"/>
                  </a:schemeClr>
                </a:gs>
                <a:gs pos="78000">
                  <a:schemeClr val="accent2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Sheet1!$C$2:$C$4</c:f>
              <c:numCache>
                <c:formatCode>General</c:formatCode>
                <c:ptCount val="3"/>
                <c:pt idx="0">
                  <c:v>37.503999999999998</c:v>
                </c:pt>
                <c:pt idx="1">
                  <c:v>0.55100000000000005</c:v>
                </c:pt>
                <c:pt idx="2">
                  <c:v>0.53900000000000003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A3B-41B0-ABEC-842AD840208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gemma3:4b</c:v>
                </c:pt>
              </c:strCache>
            </c:strRef>
          </c:tx>
          <c:spPr>
            <a:gradFill rotWithShape="1">
              <a:gsLst>
                <a:gs pos="0">
                  <a:schemeClr val="accent3">
                    <a:tint val="96000"/>
                    <a:lumMod val="100000"/>
                  </a:schemeClr>
                </a:gs>
                <a:gs pos="78000">
                  <a:schemeClr val="accent3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0.56399999999999995</c:v>
                </c:pt>
                <c:pt idx="1">
                  <c:v>0.55200000000000005</c:v>
                </c:pt>
                <c:pt idx="2">
                  <c:v>0.53400000000000003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A3B-41B0-ABEC-842AD840208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qwen3:4b</c:v>
                </c:pt>
              </c:strCache>
            </c:strRef>
          </c:tx>
          <c:spPr>
            <a:gradFill rotWithShape="1">
              <a:gsLst>
                <a:gs pos="0">
                  <a:schemeClr val="accent4">
                    <a:tint val="96000"/>
                    <a:lumMod val="100000"/>
                  </a:schemeClr>
                </a:gs>
                <a:gs pos="78000">
                  <a:schemeClr val="accent4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0.56799999999999995</c:v>
                </c:pt>
                <c:pt idx="1">
                  <c:v>0.54900000000000004</c:v>
                </c:pt>
                <c:pt idx="2">
                  <c:v>0.53500000000000003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0A3B-41B0-ABEC-842AD840208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17997920"/>
        <c:axId val="17999360"/>
      </c:barChart>
      <c:catAx>
        <c:axId val="179979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9360"/>
        <c:crosses val="autoZero"/>
        <c:auto val="1"/>
        <c:lblAlgn val="ctr"/>
        <c:lblOffset val="100"/>
        <c:noMultiLvlLbl val="0"/>
      </c:catAx>
      <c:valAx>
        <c:axId val="17999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792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t-PT" noProof="0" dirty="0" err="1"/>
              <a:t>Tokens</a:t>
            </a:r>
            <a:r>
              <a:rPr lang="en-US" noProof="0" dirty="0"/>
              <a:t>/s</a:t>
            </a:r>
            <a:r>
              <a:rPr lang="en-US" baseline="0" noProof="0" dirty="0"/>
              <a:t> </a:t>
            </a:r>
            <a:r>
              <a:rPr lang="en-US" baseline="0" noProof="0" dirty="0" err="1"/>
              <a:t>por</a:t>
            </a:r>
            <a:r>
              <a:rPr lang="en-US" baseline="0" noProof="0" dirty="0"/>
              <a:t> </a:t>
            </a:r>
            <a:r>
              <a:rPr lang="en-US" baseline="0" noProof="0" dirty="0" err="1"/>
              <a:t>Quantidade</a:t>
            </a:r>
            <a:r>
              <a:rPr lang="en-US" baseline="0" noProof="0" dirty="0"/>
              <a:t> de Logs </a:t>
            </a:r>
            <a:r>
              <a:rPr lang="pt-PT" noProof="0" dirty="0"/>
              <a:t>- gpt-oss:120b (Depois)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gpt-oss:120b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tint val="96000"/>
                    <a:lumMod val="100000"/>
                  </a:schemeClr>
                </a:gs>
                <a:gs pos="78000">
                  <a:schemeClr val="accent1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0.28599999999999998</c:v>
                </c:pt>
                <c:pt idx="1">
                  <c:v>2.5999999999999999E-2</c:v>
                </c:pt>
                <c:pt idx="2">
                  <c:v>0.98399999999999999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BC-4BBA-9740-4E7A87DEC62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deepseek-r1:8b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tint val="96000"/>
                    <a:lumMod val="100000"/>
                  </a:schemeClr>
                </a:gs>
                <a:gs pos="78000">
                  <a:schemeClr val="accent2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0.42399999999999999</c:v>
                </c:pt>
                <c:pt idx="1">
                  <c:v>0.02</c:v>
                </c:pt>
                <c:pt idx="2">
                  <c:v>0.54500000000000004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BC-4BBA-9740-4E7A87DEC62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gemma3:4b</c:v>
                </c:pt>
              </c:strCache>
            </c:strRef>
          </c:tx>
          <c:spPr>
            <a:gradFill rotWithShape="1">
              <a:gsLst>
                <a:gs pos="0">
                  <a:schemeClr val="accent3">
                    <a:tint val="96000"/>
                    <a:lumMod val="100000"/>
                  </a:schemeClr>
                </a:gs>
                <a:gs pos="78000">
                  <a:schemeClr val="accent3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0.40699999999999997</c:v>
                </c:pt>
                <c:pt idx="1">
                  <c:v>0.309</c:v>
                </c:pt>
                <c:pt idx="2">
                  <c:v>0.39700000000000002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3BC-4BBA-9740-4E7A87DEC62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qwen3:4b</c:v>
                </c:pt>
              </c:strCache>
            </c:strRef>
          </c:tx>
          <c:spPr>
            <a:gradFill rotWithShape="1">
              <a:gsLst>
                <a:gs pos="0">
                  <a:schemeClr val="accent4">
                    <a:tint val="96000"/>
                    <a:lumMod val="100000"/>
                  </a:schemeClr>
                </a:gs>
                <a:gs pos="78000">
                  <a:schemeClr val="accent4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0.41299999999999998</c:v>
                </c:pt>
                <c:pt idx="1">
                  <c:v>0.83499999999999996</c:v>
                </c:pt>
                <c:pt idx="2">
                  <c:v>0.02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3BC-4BBA-9740-4E7A87DEC6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17997920"/>
        <c:axId val="17999360"/>
      </c:barChart>
      <c:catAx>
        <c:axId val="179979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9360"/>
        <c:crosses val="autoZero"/>
        <c:auto val="1"/>
        <c:lblAlgn val="ctr"/>
        <c:lblOffset val="100"/>
        <c:noMultiLvlLbl val="0"/>
      </c:catAx>
      <c:valAx>
        <c:axId val="17999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792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t-PT" noProof="0" dirty="0" err="1"/>
              <a:t>Tokens</a:t>
            </a:r>
            <a:r>
              <a:rPr lang="en-US" noProof="0" dirty="0"/>
              <a:t>/s</a:t>
            </a:r>
            <a:r>
              <a:rPr lang="en-US" baseline="0" noProof="0" dirty="0"/>
              <a:t> </a:t>
            </a:r>
            <a:r>
              <a:rPr lang="en-US" baseline="0" noProof="0" dirty="0" err="1"/>
              <a:t>por</a:t>
            </a:r>
            <a:r>
              <a:rPr lang="en-US" baseline="0" noProof="0" dirty="0"/>
              <a:t> </a:t>
            </a:r>
            <a:r>
              <a:rPr lang="en-US" baseline="0" noProof="0" dirty="0" err="1"/>
              <a:t>Quantidade</a:t>
            </a:r>
            <a:r>
              <a:rPr lang="en-US" baseline="0" noProof="0" dirty="0"/>
              <a:t> de Logs </a:t>
            </a:r>
            <a:r>
              <a:rPr lang="pt-PT" noProof="0" dirty="0"/>
              <a:t>- deepseek-r1:8b (Depois)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gpt-oss:120b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tint val="96000"/>
                    <a:lumMod val="100000"/>
                  </a:schemeClr>
                </a:gs>
                <a:gs pos="78000">
                  <a:schemeClr val="accent1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24.507000000000001</c:v>
                </c:pt>
                <c:pt idx="1">
                  <c:v>42.576999999999998</c:v>
                </c:pt>
                <c:pt idx="2">
                  <c:v>37.331000000000003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025-4E27-A44C-2FDD4D73651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deepseek-r1:8b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tint val="96000"/>
                    <a:lumMod val="100000"/>
                  </a:schemeClr>
                </a:gs>
                <a:gs pos="78000">
                  <a:schemeClr val="accent2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Sheet1!$C$2:$C$4</c:f>
              <c:numCache>
                <c:formatCode>General</c:formatCode>
                <c:ptCount val="3"/>
                <c:pt idx="0">
                  <c:v>35.814</c:v>
                </c:pt>
                <c:pt idx="1">
                  <c:v>0.55700000000000005</c:v>
                </c:pt>
                <c:pt idx="2">
                  <c:v>0.54800000000000004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025-4E27-A44C-2FDD4D73651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gemma3:4b</c:v>
                </c:pt>
              </c:strCache>
            </c:strRef>
          </c:tx>
          <c:spPr>
            <a:gradFill rotWithShape="1">
              <a:gsLst>
                <a:gs pos="0">
                  <a:schemeClr val="accent3">
                    <a:tint val="96000"/>
                    <a:lumMod val="100000"/>
                  </a:schemeClr>
                </a:gs>
                <a:gs pos="78000">
                  <a:schemeClr val="accent3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0.57599999999999996</c:v>
                </c:pt>
                <c:pt idx="1">
                  <c:v>0.53800000000000003</c:v>
                </c:pt>
                <c:pt idx="2">
                  <c:v>0.53600000000000003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025-4E27-A44C-2FDD4D73651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qwen3:4b</c:v>
                </c:pt>
              </c:strCache>
            </c:strRef>
          </c:tx>
          <c:spPr>
            <a:gradFill rotWithShape="1">
              <a:gsLst>
                <a:gs pos="0">
                  <a:schemeClr val="accent4">
                    <a:tint val="96000"/>
                    <a:lumMod val="100000"/>
                  </a:schemeClr>
                </a:gs>
                <a:gs pos="78000">
                  <a:schemeClr val="accent4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0.57199999999999995</c:v>
                </c:pt>
                <c:pt idx="1">
                  <c:v>0.54100000000000004</c:v>
                </c:pt>
                <c:pt idx="2">
                  <c:v>0.54700000000000004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025-4E27-A44C-2FDD4D73651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17997920"/>
        <c:axId val="17999360"/>
      </c:barChart>
      <c:catAx>
        <c:axId val="179979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9360"/>
        <c:crosses val="autoZero"/>
        <c:auto val="1"/>
        <c:lblAlgn val="ctr"/>
        <c:lblOffset val="100"/>
        <c:noMultiLvlLbl val="0"/>
      </c:catAx>
      <c:valAx>
        <c:axId val="17999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792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t-PT" noProof="0" dirty="0" err="1"/>
              <a:t>Tokens</a:t>
            </a:r>
            <a:r>
              <a:rPr lang="en-US" noProof="0" dirty="0"/>
              <a:t>/s</a:t>
            </a:r>
            <a:r>
              <a:rPr lang="en-US" baseline="0" noProof="0" dirty="0"/>
              <a:t> </a:t>
            </a:r>
            <a:r>
              <a:rPr lang="en-US" baseline="0" noProof="0" dirty="0" err="1"/>
              <a:t>por</a:t>
            </a:r>
            <a:r>
              <a:rPr lang="en-US" baseline="0" noProof="0" dirty="0"/>
              <a:t> </a:t>
            </a:r>
            <a:r>
              <a:rPr lang="en-US" baseline="0" noProof="0" dirty="0" err="1"/>
              <a:t>Quantidade</a:t>
            </a:r>
            <a:r>
              <a:rPr lang="en-US" baseline="0" noProof="0" dirty="0"/>
              <a:t> de Logs </a:t>
            </a:r>
            <a:r>
              <a:rPr lang="pt-PT" noProof="0" dirty="0"/>
              <a:t>- gemma3:4b (Antes)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gpt-oss:120b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tint val="96000"/>
                    <a:lumMod val="100000"/>
                  </a:schemeClr>
                </a:gs>
                <a:gs pos="78000">
                  <a:schemeClr val="accent1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20.312000000000001</c:v>
                </c:pt>
                <c:pt idx="1">
                  <c:v>38.067</c:v>
                </c:pt>
                <c:pt idx="2">
                  <c:v>41.396999999999998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9E-497C-BCEA-9DD896E841A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deepseek-r1:8b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tint val="96000"/>
                    <a:lumMod val="100000"/>
                  </a:schemeClr>
                </a:gs>
                <a:gs pos="78000">
                  <a:schemeClr val="accent2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34.835999999999999</c:v>
                </c:pt>
                <c:pt idx="1">
                  <c:v>32.076000000000001</c:v>
                </c:pt>
                <c:pt idx="2">
                  <c:v>30.181000000000001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9E-497C-BCEA-9DD896E841A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gemma3:4b</c:v>
                </c:pt>
              </c:strCache>
            </c:strRef>
          </c:tx>
          <c:spPr>
            <a:gradFill rotWithShape="1">
              <a:gsLst>
                <a:gs pos="0">
                  <a:schemeClr val="accent3">
                    <a:tint val="96000"/>
                    <a:lumMod val="100000"/>
                  </a:schemeClr>
                </a:gs>
                <a:gs pos="78000">
                  <a:schemeClr val="accent3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Sheet1!$D$2:$D$4</c:f>
              <c:numCache>
                <c:formatCode>General</c:formatCode>
                <c:ptCount val="3"/>
                <c:pt idx="0">
                  <c:v>31.818999999999999</c:v>
                </c:pt>
                <c:pt idx="1">
                  <c:v>1.04</c:v>
                </c:pt>
                <c:pt idx="2">
                  <c:v>30.773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89E-497C-BCEA-9DD896E841A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qwen3:4b</c:v>
                </c:pt>
              </c:strCache>
            </c:strRef>
          </c:tx>
          <c:spPr>
            <a:gradFill rotWithShape="1">
              <a:gsLst>
                <a:gs pos="0">
                  <a:schemeClr val="accent4">
                    <a:tint val="96000"/>
                    <a:lumMod val="100000"/>
                  </a:schemeClr>
                </a:gs>
                <a:gs pos="78000">
                  <a:schemeClr val="accent4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Sheet1!$E$2:$E$4</c:f>
              <c:numCache>
                <c:formatCode>General</c:formatCode>
                <c:ptCount val="3"/>
                <c:pt idx="0">
                  <c:v>28.337</c:v>
                </c:pt>
                <c:pt idx="1">
                  <c:v>41.588999999999999</c:v>
                </c:pt>
                <c:pt idx="2">
                  <c:v>26.053000000000001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89E-497C-BCEA-9DD896E841A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17997920"/>
        <c:axId val="17999360"/>
      </c:barChart>
      <c:catAx>
        <c:axId val="179979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9360"/>
        <c:crosses val="autoZero"/>
        <c:auto val="1"/>
        <c:lblAlgn val="ctr"/>
        <c:lblOffset val="100"/>
        <c:noMultiLvlLbl val="0"/>
      </c:catAx>
      <c:valAx>
        <c:axId val="17999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792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t-PT" noProof="0" dirty="0" err="1"/>
              <a:t>Tokens</a:t>
            </a:r>
            <a:r>
              <a:rPr lang="en-US" noProof="0" dirty="0"/>
              <a:t>/s</a:t>
            </a:r>
            <a:r>
              <a:rPr lang="en-US" baseline="0" noProof="0" dirty="0"/>
              <a:t> </a:t>
            </a:r>
            <a:r>
              <a:rPr lang="en-US" baseline="0" noProof="0" dirty="0" err="1"/>
              <a:t>por</a:t>
            </a:r>
            <a:r>
              <a:rPr lang="en-US" baseline="0" noProof="0" dirty="0"/>
              <a:t> </a:t>
            </a:r>
            <a:r>
              <a:rPr lang="en-US" baseline="0" noProof="0" dirty="0" err="1"/>
              <a:t>Quantidade</a:t>
            </a:r>
            <a:r>
              <a:rPr lang="en-US" baseline="0" noProof="0" dirty="0"/>
              <a:t> de Logs </a:t>
            </a:r>
            <a:r>
              <a:rPr lang="pt-PT" noProof="0" dirty="0"/>
              <a:t>- qwen3:4b (Antes)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gpt-oss:120b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tint val="96000"/>
                    <a:lumMod val="100000"/>
                  </a:schemeClr>
                </a:gs>
                <a:gs pos="78000">
                  <a:schemeClr val="accent1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  <c:pt idx="0">
                  <c:v>65.706999999999994</c:v>
                </c:pt>
                <c:pt idx="1">
                  <c:v>63.893999999999998</c:v>
                </c:pt>
                <c:pt idx="2">
                  <c:v>63.145000000000003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5CE-4D9A-98F4-E94F166E5B2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deepseek-r1:8b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tint val="96000"/>
                    <a:lumMod val="100000"/>
                  </a:schemeClr>
                </a:gs>
                <a:gs pos="78000">
                  <a:schemeClr val="accent2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Sheet1!$C$2:$C$4</c:f>
              <c:numCache>
                <c:formatCode>General</c:formatCode>
                <c:ptCount val="3"/>
                <c:pt idx="0">
                  <c:v>63.466999999999999</c:v>
                </c:pt>
                <c:pt idx="1">
                  <c:v>70.540000000000006</c:v>
                </c:pt>
                <c:pt idx="2">
                  <c:v>71.724000000000004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5CE-4D9A-98F4-E94F166E5B2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gemma3:4b</c:v>
                </c:pt>
              </c:strCache>
            </c:strRef>
          </c:tx>
          <c:spPr>
            <a:gradFill rotWithShape="1">
              <a:gsLst>
                <a:gs pos="0">
                  <a:schemeClr val="accent3">
                    <a:tint val="96000"/>
                    <a:lumMod val="100000"/>
                  </a:schemeClr>
                </a:gs>
                <a:gs pos="78000">
                  <a:schemeClr val="accent3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Sheet1!$D$2:$D$4</c:f>
              <c:numCache>
                <c:formatCode>General</c:formatCode>
                <c:ptCount val="3"/>
                <c:pt idx="0">
                  <c:v>74.48</c:v>
                </c:pt>
                <c:pt idx="1">
                  <c:v>75.266000000000005</c:v>
                </c:pt>
                <c:pt idx="2">
                  <c:v>73.326999999999998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5CE-4D9A-98F4-E94F166E5B2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qwen3:4b</c:v>
                </c:pt>
              </c:strCache>
            </c:strRef>
          </c:tx>
          <c:spPr>
            <a:gradFill rotWithShape="1">
              <a:gsLst>
                <a:gs pos="0">
                  <a:schemeClr val="accent4">
                    <a:tint val="96000"/>
                    <a:lumMod val="100000"/>
                  </a:schemeClr>
                </a:gs>
                <a:gs pos="78000">
                  <a:schemeClr val="accent4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Sheet1!$E$2:$E$4</c:f>
              <c:numCache>
                <c:formatCode>General</c:formatCode>
                <c:ptCount val="3"/>
                <c:pt idx="0">
                  <c:v>70.391000000000005</c:v>
                </c:pt>
                <c:pt idx="1">
                  <c:v>65.744</c:v>
                </c:pt>
                <c:pt idx="2">
                  <c:v>75.944000000000003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5CE-4D9A-98F4-E94F166E5B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17997920"/>
        <c:axId val="17999360"/>
      </c:barChart>
      <c:catAx>
        <c:axId val="179979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9360"/>
        <c:crosses val="autoZero"/>
        <c:auto val="1"/>
        <c:lblAlgn val="ctr"/>
        <c:lblOffset val="100"/>
        <c:noMultiLvlLbl val="0"/>
      </c:catAx>
      <c:valAx>
        <c:axId val="17999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792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t-PT" noProof="0" dirty="0" err="1"/>
              <a:t>Tokens</a:t>
            </a:r>
            <a:r>
              <a:rPr lang="en-US" noProof="0" dirty="0"/>
              <a:t>/s</a:t>
            </a:r>
            <a:r>
              <a:rPr lang="en-US" baseline="0" noProof="0" dirty="0"/>
              <a:t> </a:t>
            </a:r>
            <a:r>
              <a:rPr lang="en-US" baseline="0" noProof="0" dirty="0" err="1"/>
              <a:t>por</a:t>
            </a:r>
            <a:r>
              <a:rPr lang="en-US" baseline="0" noProof="0" dirty="0"/>
              <a:t> </a:t>
            </a:r>
            <a:r>
              <a:rPr lang="en-US" baseline="0" noProof="0" dirty="0" err="1"/>
              <a:t>Quantidade</a:t>
            </a:r>
            <a:r>
              <a:rPr lang="en-US" baseline="0" noProof="0" dirty="0"/>
              <a:t> de Logs </a:t>
            </a:r>
            <a:r>
              <a:rPr lang="pt-PT" noProof="0" dirty="0"/>
              <a:t>- gemma3:4b (Depois)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gpt-oss:120b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tint val="96000"/>
                    <a:lumMod val="100000"/>
                  </a:schemeClr>
                </a:gs>
                <a:gs pos="78000">
                  <a:schemeClr val="accent1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8.173</c:v>
                </c:pt>
                <c:pt idx="1">
                  <c:v>39.134</c:v>
                </c:pt>
                <c:pt idx="2">
                  <c:v>28.911999999999999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E6-4A64-9F34-32729BE7AB3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deepseek-r1:8b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tint val="96000"/>
                    <a:lumMod val="100000"/>
                  </a:schemeClr>
                </a:gs>
                <a:gs pos="78000">
                  <a:schemeClr val="accent2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34.381</c:v>
                </c:pt>
                <c:pt idx="1">
                  <c:v>37.17</c:v>
                </c:pt>
                <c:pt idx="2">
                  <c:v>28.233000000000001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7E6-4A64-9F34-32729BE7AB3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gemma3:4b</c:v>
                </c:pt>
              </c:strCache>
            </c:strRef>
          </c:tx>
          <c:spPr>
            <a:gradFill rotWithShape="1">
              <a:gsLst>
                <a:gs pos="0">
                  <a:schemeClr val="accent3">
                    <a:tint val="96000"/>
                    <a:lumMod val="100000"/>
                  </a:schemeClr>
                </a:gs>
                <a:gs pos="78000">
                  <a:schemeClr val="accent3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Sheet1!$D$2:$D$4</c:f>
              <c:numCache>
                <c:formatCode>General</c:formatCode>
                <c:ptCount val="3"/>
                <c:pt idx="0">
                  <c:v>32.957999999999998</c:v>
                </c:pt>
                <c:pt idx="1">
                  <c:v>19.908999999999999</c:v>
                </c:pt>
                <c:pt idx="2">
                  <c:v>33.646000000000001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7E6-4A64-9F34-32729BE7AB3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qwen3:4b</c:v>
                </c:pt>
              </c:strCache>
            </c:strRef>
          </c:tx>
          <c:spPr>
            <a:gradFill rotWithShape="1">
              <a:gsLst>
                <a:gs pos="0">
                  <a:schemeClr val="accent4">
                    <a:tint val="96000"/>
                    <a:lumMod val="100000"/>
                  </a:schemeClr>
                </a:gs>
                <a:gs pos="78000">
                  <a:schemeClr val="accent4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Sheet1!$E$2:$E$4</c:f>
              <c:numCache>
                <c:formatCode>General</c:formatCode>
                <c:ptCount val="3"/>
                <c:pt idx="0">
                  <c:v>30.808</c:v>
                </c:pt>
                <c:pt idx="1">
                  <c:v>33.206000000000003</c:v>
                </c:pt>
                <c:pt idx="2">
                  <c:v>21.515999999999998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7E6-4A64-9F34-32729BE7AB3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17997920"/>
        <c:axId val="17999360"/>
      </c:barChart>
      <c:catAx>
        <c:axId val="179979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9360"/>
        <c:crosses val="autoZero"/>
        <c:auto val="1"/>
        <c:lblAlgn val="ctr"/>
        <c:lblOffset val="100"/>
        <c:noMultiLvlLbl val="0"/>
      </c:catAx>
      <c:valAx>
        <c:axId val="17999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792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t-PT" noProof="0" dirty="0" err="1"/>
              <a:t>Tokens</a:t>
            </a:r>
            <a:r>
              <a:rPr lang="en-US" noProof="0" dirty="0"/>
              <a:t>/s</a:t>
            </a:r>
            <a:r>
              <a:rPr lang="en-US" baseline="0" noProof="0" dirty="0"/>
              <a:t> </a:t>
            </a:r>
            <a:r>
              <a:rPr lang="en-US" baseline="0" noProof="0" dirty="0" err="1"/>
              <a:t>por</a:t>
            </a:r>
            <a:r>
              <a:rPr lang="en-US" baseline="0" noProof="0" dirty="0"/>
              <a:t> </a:t>
            </a:r>
            <a:r>
              <a:rPr lang="en-US" baseline="0" noProof="0" dirty="0" err="1"/>
              <a:t>Quantidade</a:t>
            </a:r>
            <a:r>
              <a:rPr lang="en-US" baseline="0" noProof="0" dirty="0"/>
              <a:t> de Logs </a:t>
            </a:r>
            <a:r>
              <a:rPr lang="pt-PT" noProof="0" dirty="0"/>
              <a:t>- qwen3:4b (Depois)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gpt-oss:120b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tint val="96000"/>
                    <a:lumMod val="100000"/>
                  </a:schemeClr>
                </a:gs>
                <a:gs pos="78000">
                  <a:schemeClr val="accent1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45.679000000000002</c:v>
                </c:pt>
                <c:pt idx="1">
                  <c:v>80.275999999999996</c:v>
                </c:pt>
                <c:pt idx="2">
                  <c:v>67.584000000000003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E69-4F9E-956B-E5BCCF2987B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deepseek-r1:8b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tint val="96000"/>
                    <a:lumMod val="100000"/>
                  </a:schemeClr>
                </a:gs>
                <a:gs pos="78000">
                  <a:schemeClr val="accent2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Sheet1!$C$2:$C$4</c:f>
              <c:numCache>
                <c:formatCode>General</c:formatCode>
                <c:ptCount val="3"/>
                <c:pt idx="0">
                  <c:v>82.141999999999996</c:v>
                </c:pt>
                <c:pt idx="1">
                  <c:v>73.105000000000004</c:v>
                </c:pt>
                <c:pt idx="2">
                  <c:v>71.009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E69-4F9E-956B-E5BCCF2987B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gemma3:4b</c:v>
                </c:pt>
              </c:strCache>
            </c:strRef>
          </c:tx>
          <c:spPr>
            <a:gradFill rotWithShape="1">
              <a:gsLst>
                <a:gs pos="0">
                  <a:schemeClr val="accent3">
                    <a:tint val="96000"/>
                    <a:lumMod val="100000"/>
                  </a:schemeClr>
                </a:gs>
                <a:gs pos="78000">
                  <a:schemeClr val="accent3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Sheet1!$D$2:$D$4</c:f>
              <c:numCache>
                <c:formatCode>General</c:formatCode>
                <c:ptCount val="3"/>
                <c:pt idx="0">
                  <c:v>68.126000000000005</c:v>
                </c:pt>
                <c:pt idx="1">
                  <c:v>75.308999999999997</c:v>
                </c:pt>
                <c:pt idx="2">
                  <c:v>80.918999999999997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E69-4F9E-956B-E5BCCF2987B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qwen3:4b</c:v>
                </c:pt>
              </c:strCache>
            </c:strRef>
          </c:tx>
          <c:spPr>
            <a:gradFill rotWithShape="1">
              <a:gsLst>
                <a:gs pos="0">
                  <a:schemeClr val="accent4">
                    <a:tint val="96000"/>
                    <a:lumMod val="100000"/>
                  </a:schemeClr>
                </a:gs>
                <a:gs pos="78000">
                  <a:schemeClr val="accent4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Sheet1!$E$2:$E$4</c:f>
              <c:numCache>
                <c:formatCode>General</c:formatCode>
                <c:ptCount val="3"/>
                <c:pt idx="0">
                  <c:v>68.853999999999999</c:v>
                </c:pt>
                <c:pt idx="1">
                  <c:v>79.834999999999994</c:v>
                </c:pt>
                <c:pt idx="2">
                  <c:v>68.578999999999994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E69-4F9E-956B-E5BCCF2987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17997920"/>
        <c:axId val="17999360"/>
      </c:barChart>
      <c:catAx>
        <c:axId val="179979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9360"/>
        <c:crosses val="autoZero"/>
        <c:auto val="1"/>
        <c:lblAlgn val="ctr"/>
        <c:lblOffset val="100"/>
        <c:noMultiLvlLbl val="0"/>
      </c:catAx>
      <c:valAx>
        <c:axId val="17999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792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t-PT" noProof="0" dirty="0"/>
              <a:t>T.</a:t>
            </a:r>
            <a:r>
              <a:rPr lang="pt-PT" baseline="0" noProof="0" dirty="0"/>
              <a:t> Resposta</a:t>
            </a:r>
            <a:r>
              <a:rPr lang="en-US" baseline="0" noProof="0" dirty="0"/>
              <a:t> </a:t>
            </a:r>
            <a:r>
              <a:rPr lang="en-US" baseline="0" noProof="0" dirty="0" err="1"/>
              <a:t>por</a:t>
            </a:r>
            <a:r>
              <a:rPr lang="en-US" baseline="0" noProof="0" dirty="0"/>
              <a:t> </a:t>
            </a:r>
            <a:r>
              <a:rPr lang="en-US" baseline="0" noProof="0" dirty="0" err="1"/>
              <a:t>Quantidade</a:t>
            </a:r>
            <a:r>
              <a:rPr lang="en-US" baseline="0" noProof="0" dirty="0"/>
              <a:t> de Logs </a:t>
            </a:r>
            <a:r>
              <a:rPr lang="pt-PT" noProof="0" dirty="0"/>
              <a:t>- gpt-oss:120b (Antes)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gpt-oss:120b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tint val="96000"/>
                    <a:lumMod val="100000"/>
                  </a:schemeClr>
                </a:gs>
                <a:gs pos="78000">
                  <a:schemeClr val="accent1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260.10500000000002</c:v>
                </c:pt>
                <c:pt idx="1">
                  <c:v>1516.3720000000001</c:v>
                </c:pt>
                <c:pt idx="2">
                  <c:v>276.315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88A-4632-82AA-6C5AFD4E23F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deepseek-r1:8b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tint val="96000"/>
                    <a:lumMod val="100000"/>
                  </a:schemeClr>
                </a:gs>
                <a:gs pos="78000">
                  <a:schemeClr val="accent2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Sheet1!$C$2:$C$4</c:f>
              <c:numCache>
                <c:formatCode>General</c:formatCode>
                <c:ptCount val="3"/>
                <c:pt idx="0">
                  <c:v>165.595</c:v>
                </c:pt>
                <c:pt idx="1">
                  <c:v>1187.665</c:v>
                </c:pt>
                <c:pt idx="2">
                  <c:v>512.88099999999997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88A-4632-82AA-6C5AFD4E23F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gemma3:4b</c:v>
                </c:pt>
              </c:strCache>
            </c:strRef>
          </c:tx>
          <c:spPr>
            <a:gradFill rotWithShape="1">
              <a:gsLst>
                <a:gs pos="0">
                  <a:schemeClr val="accent3">
                    <a:tint val="96000"/>
                    <a:lumMod val="100000"/>
                  </a:schemeClr>
                </a:gs>
                <a:gs pos="78000">
                  <a:schemeClr val="accent3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Sheet1!$D$2:$D$4</c:f>
              <c:numCache>
                <c:formatCode>General</c:formatCode>
                <c:ptCount val="3"/>
                <c:pt idx="0">
                  <c:v>146.154</c:v>
                </c:pt>
                <c:pt idx="1">
                  <c:v>514.84400000000005</c:v>
                </c:pt>
                <c:pt idx="2">
                  <c:v>1046.2090000000001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88A-4632-82AA-6C5AFD4E23F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qwen3:4b</c:v>
                </c:pt>
              </c:strCache>
            </c:strRef>
          </c:tx>
          <c:spPr>
            <a:gradFill rotWithShape="1">
              <a:gsLst>
                <a:gs pos="0">
                  <a:schemeClr val="accent4">
                    <a:tint val="96000"/>
                    <a:lumMod val="100000"/>
                  </a:schemeClr>
                </a:gs>
                <a:gs pos="78000">
                  <a:schemeClr val="accent4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Sheet1!$E$2:$E$4</c:f>
              <c:numCache>
                <c:formatCode>General</c:formatCode>
                <c:ptCount val="3"/>
                <c:pt idx="0">
                  <c:v>156.99199999999999</c:v>
                </c:pt>
                <c:pt idx="1">
                  <c:v>1115.481</c:v>
                </c:pt>
                <c:pt idx="2">
                  <c:v>237.11199999999999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88A-4632-82AA-6C5AFD4E23F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17997920"/>
        <c:axId val="17999360"/>
      </c:barChart>
      <c:catAx>
        <c:axId val="179979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9360"/>
        <c:crosses val="autoZero"/>
        <c:auto val="1"/>
        <c:lblAlgn val="ctr"/>
        <c:lblOffset val="100"/>
        <c:noMultiLvlLbl val="0"/>
      </c:catAx>
      <c:valAx>
        <c:axId val="17999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792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noProof="0" dirty="0"/>
              <a:t>T. </a:t>
            </a:r>
            <a:r>
              <a:rPr lang="en-US" noProof="0" dirty="0" err="1"/>
              <a:t>Resposta</a:t>
            </a:r>
            <a:r>
              <a:rPr lang="en-US" baseline="0" noProof="0" dirty="0"/>
              <a:t> </a:t>
            </a:r>
            <a:r>
              <a:rPr lang="en-US" baseline="0" noProof="0" dirty="0" err="1"/>
              <a:t>por</a:t>
            </a:r>
            <a:r>
              <a:rPr lang="en-US" baseline="0" noProof="0" dirty="0"/>
              <a:t> </a:t>
            </a:r>
            <a:r>
              <a:rPr lang="en-US" baseline="0" noProof="0" dirty="0" err="1"/>
              <a:t>Quantidade</a:t>
            </a:r>
            <a:r>
              <a:rPr lang="en-US" baseline="0" noProof="0" dirty="0"/>
              <a:t> de Logs </a:t>
            </a:r>
            <a:r>
              <a:rPr lang="pt-PT" noProof="0" dirty="0"/>
              <a:t>- deepseek-r1:8b</a:t>
            </a:r>
            <a:r>
              <a:rPr lang="pt-PT" baseline="0" noProof="0" dirty="0"/>
              <a:t> </a:t>
            </a:r>
            <a:r>
              <a:rPr lang="pt-PT" noProof="0" dirty="0"/>
              <a:t>(Antes)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gpt-oss:120b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tint val="96000"/>
                    <a:lumMod val="100000"/>
                  </a:schemeClr>
                </a:gs>
                <a:gs pos="78000">
                  <a:schemeClr val="accent1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13.032999999999999</c:v>
                </c:pt>
                <c:pt idx="1">
                  <c:v>14.157</c:v>
                </c:pt>
                <c:pt idx="2">
                  <c:v>483.91500000000002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EB-4EA4-958F-5E20F02D562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deepseek-r1:8b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tint val="96000"/>
                    <a:lumMod val="100000"/>
                  </a:schemeClr>
                </a:gs>
                <a:gs pos="78000">
                  <a:schemeClr val="accent2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Sheet1!$C$2:$C$4</c:f>
              <c:numCache>
                <c:formatCode>General</c:formatCode>
                <c:ptCount val="3"/>
                <c:pt idx="0">
                  <c:v>484.61500000000001</c:v>
                </c:pt>
                <c:pt idx="1">
                  <c:v>1.8160000000000001</c:v>
                </c:pt>
                <c:pt idx="2">
                  <c:v>1.8540000000000001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3EB-4EA4-958F-5E20F02D562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gemma3:4b</c:v>
                </c:pt>
              </c:strCache>
            </c:strRef>
          </c:tx>
          <c:spPr>
            <a:gradFill rotWithShape="1">
              <a:gsLst>
                <a:gs pos="0">
                  <a:schemeClr val="accent3">
                    <a:tint val="96000"/>
                    <a:lumMod val="100000"/>
                  </a:schemeClr>
                </a:gs>
                <a:gs pos="78000">
                  <a:schemeClr val="accent3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1.774</c:v>
                </c:pt>
                <c:pt idx="1">
                  <c:v>1.8109999999999999</c:v>
                </c:pt>
                <c:pt idx="2">
                  <c:v>1.8720000000000001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3EB-4EA4-958F-5E20F02D562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qwen3:4b</c:v>
                </c:pt>
              </c:strCache>
            </c:strRef>
          </c:tx>
          <c:spPr>
            <a:gradFill rotWithShape="1">
              <a:gsLst>
                <a:gs pos="0">
                  <a:schemeClr val="accent4">
                    <a:tint val="96000"/>
                    <a:lumMod val="100000"/>
                  </a:schemeClr>
                </a:gs>
                <a:gs pos="78000">
                  <a:schemeClr val="accent4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Sheet1!$E$2:$E$4</c:f>
              <c:numCache>
                <c:formatCode>General</c:formatCode>
                <c:ptCount val="3"/>
                <c:pt idx="0">
                  <c:v>1.7609999999999999</c:v>
                </c:pt>
                <c:pt idx="1">
                  <c:v>1.8220000000000001</c:v>
                </c:pt>
                <c:pt idx="2">
                  <c:v>1.8680000000000001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3EB-4EA4-958F-5E20F02D562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17997920"/>
        <c:axId val="17999360"/>
      </c:barChart>
      <c:catAx>
        <c:axId val="179979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9360"/>
        <c:crosses val="autoZero"/>
        <c:auto val="1"/>
        <c:lblAlgn val="ctr"/>
        <c:lblOffset val="100"/>
        <c:noMultiLvlLbl val="0"/>
      </c:catAx>
      <c:valAx>
        <c:axId val="17999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792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baseline="0" noProof="0" dirty="0"/>
              <a:t>T. </a:t>
            </a:r>
            <a:r>
              <a:rPr lang="en-US" baseline="0" noProof="0" dirty="0" err="1"/>
              <a:t>Resposta</a:t>
            </a:r>
            <a:r>
              <a:rPr lang="en-US" baseline="0" noProof="0" dirty="0"/>
              <a:t> </a:t>
            </a:r>
            <a:r>
              <a:rPr lang="en-US" baseline="0" noProof="0" dirty="0" err="1"/>
              <a:t>por</a:t>
            </a:r>
            <a:r>
              <a:rPr lang="en-US" baseline="0" noProof="0" dirty="0"/>
              <a:t> </a:t>
            </a:r>
            <a:r>
              <a:rPr lang="en-US" baseline="0" noProof="0" dirty="0" err="1"/>
              <a:t>Quantidade</a:t>
            </a:r>
            <a:r>
              <a:rPr lang="en-US" baseline="0" noProof="0" dirty="0"/>
              <a:t> de Logs </a:t>
            </a:r>
            <a:r>
              <a:rPr lang="pt-PT" noProof="0" dirty="0"/>
              <a:t>- gpt-oss:120b (Depois)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gpt-oss:120b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tint val="96000"/>
                    <a:lumMod val="100000"/>
                  </a:schemeClr>
                </a:gs>
                <a:gs pos="78000">
                  <a:schemeClr val="accent1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262.13</c:v>
                </c:pt>
                <c:pt idx="1">
                  <c:v>264.65699999999998</c:v>
                </c:pt>
                <c:pt idx="2">
                  <c:v>884.85900000000004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712-4721-9039-A43A5AF4063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deepseek-r1:8b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tint val="96000"/>
                    <a:lumMod val="100000"/>
                  </a:schemeClr>
                </a:gs>
                <a:gs pos="78000">
                  <a:schemeClr val="accent2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207.672</c:v>
                </c:pt>
                <c:pt idx="1">
                  <c:v>248.43799999999999</c:v>
                </c:pt>
                <c:pt idx="2">
                  <c:v>519.08100000000002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712-4721-9039-A43A5AF4063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gemma3:4b</c:v>
                </c:pt>
              </c:strCache>
            </c:strRef>
          </c:tx>
          <c:spPr>
            <a:gradFill rotWithShape="1">
              <a:gsLst>
                <a:gs pos="0">
                  <a:schemeClr val="accent3">
                    <a:tint val="96000"/>
                    <a:lumMod val="100000"/>
                  </a:schemeClr>
                </a:gs>
                <a:gs pos="78000">
                  <a:schemeClr val="accent3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Sheet1!$D$2:$D$4</c:f>
              <c:numCache>
                <c:formatCode>General</c:formatCode>
                <c:ptCount val="3"/>
                <c:pt idx="0">
                  <c:v>208.72</c:v>
                </c:pt>
                <c:pt idx="1">
                  <c:v>526.67700000000002</c:v>
                </c:pt>
                <c:pt idx="2">
                  <c:v>625.09299999999996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712-4721-9039-A43A5AF4063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qwen3:4b</c:v>
                </c:pt>
              </c:strCache>
            </c:strRef>
          </c:tx>
          <c:spPr>
            <a:gradFill rotWithShape="1">
              <a:gsLst>
                <a:gs pos="0">
                  <a:schemeClr val="accent4">
                    <a:tint val="96000"/>
                    <a:lumMod val="100000"/>
                  </a:schemeClr>
                </a:gs>
                <a:gs pos="78000">
                  <a:schemeClr val="accent4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Sheet1!$E$2:$E$4</c:f>
              <c:numCache>
                <c:formatCode>General</c:formatCode>
                <c:ptCount val="3"/>
                <c:pt idx="0">
                  <c:v>205.83600000000001</c:v>
                </c:pt>
                <c:pt idx="1">
                  <c:v>710.17499999999995</c:v>
                </c:pt>
                <c:pt idx="2">
                  <c:v>247.02500000000001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712-4721-9039-A43A5AF4063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17997920"/>
        <c:axId val="17999360"/>
      </c:barChart>
      <c:catAx>
        <c:axId val="179979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9360"/>
        <c:crosses val="autoZero"/>
        <c:auto val="1"/>
        <c:lblAlgn val="ctr"/>
        <c:lblOffset val="100"/>
        <c:noMultiLvlLbl val="0"/>
      </c:catAx>
      <c:valAx>
        <c:axId val="17999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792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noProof="0" dirty="0"/>
              <a:t>T.</a:t>
            </a:r>
            <a:r>
              <a:rPr lang="en-US" baseline="0" noProof="0" dirty="0"/>
              <a:t> </a:t>
            </a:r>
            <a:r>
              <a:rPr lang="en-US" baseline="0" noProof="0" dirty="0" err="1"/>
              <a:t>Resposta</a:t>
            </a:r>
            <a:r>
              <a:rPr lang="en-US" baseline="0" noProof="0" dirty="0"/>
              <a:t> </a:t>
            </a:r>
            <a:r>
              <a:rPr lang="en-US" baseline="0" noProof="0" dirty="0" err="1"/>
              <a:t>por</a:t>
            </a:r>
            <a:r>
              <a:rPr lang="en-US" baseline="0" noProof="0" dirty="0"/>
              <a:t> </a:t>
            </a:r>
            <a:r>
              <a:rPr lang="en-US" baseline="0" noProof="0" dirty="0" err="1"/>
              <a:t>Quantidade</a:t>
            </a:r>
            <a:r>
              <a:rPr lang="en-US" baseline="0" noProof="0" dirty="0"/>
              <a:t> de Logs </a:t>
            </a:r>
            <a:r>
              <a:rPr lang="pt-PT" noProof="0" dirty="0"/>
              <a:t>- deepseek-r1:8b (Depois)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gpt-oss:120b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tint val="96000"/>
                    <a:lumMod val="100000"/>
                  </a:schemeClr>
                </a:gs>
                <a:gs pos="78000">
                  <a:schemeClr val="accent1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  <c:pt idx="0">
                  <c:v>76.143000000000001</c:v>
                </c:pt>
                <c:pt idx="1">
                  <c:v>487.113</c:v>
                </c:pt>
                <c:pt idx="2">
                  <c:v>341.03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EA5-4CEF-9C53-11A68B4DE3B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deepseek-r1:8b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tint val="96000"/>
                    <a:lumMod val="100000"/>
                  </a:schemeClr>
                </a:gs>
                <a:gs pos="78000">
                  <a:schemeClr val="accent2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123.723</c:v>
                </c:pt>
                <c:pt idx="1">
                  <c:v>1.796</c:v>
                </c:pt>
                <c:pt idx="2">
                  <c:v>1.8240000000000001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EA5-4CEF-9C53-11A68B4DE3B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gemma3:4b</c:v>
                </c:pt>
              </c:strCache>
            </c:strRef>
          </c:tx>
          <c:spPr>
            <a:gradFill rotWithShape="1">
              <a:gsLst>
                <a:gs pos="0">
                  <a:schemeClr val="accent3">
                    <a:tint val="96000"/>
                    <a:lumMod val="100000"/>
                  </a:schemeClr>
                </a:gs>
                <a:gs pos="78000">
                  <a:schemeClr val="accent3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1.736</c:v>
                </c:pt>
                <c:pt idx="1">
                  <c:v>1.86</c:v>
                </c:pt>
                <c:pt idx="2">
                  <c:v>1.8640000000000001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EA5-4CEF-9C53-11A68B4DE3B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qwen3:4b</c:v>
                </c:pt>
              </c:strCache>
            </c:strRef>
          </c:tx>
          <c:spPr>
            <a:gradFill rotWithShape="1">
              <a:gsLst>
                <a:gs pos="0">
                  <a:schemeClr val="accent4">
                    <a:tint val="96000"/>
                    <a:lumMod val="100000"/>
                  </a:schemeClr>
                </a:gs>
                <a:gs pos="78000">
                  <a:schemeClr val="accent4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Sheet1!$E$2:$E$4</c:f>
              <c:numCache>
                <c:formatCode>General</c:formatCode>
                <c:ptCount val="3"/>
                <c:pt idx="0">
                  <c:v>1.748</c:v>
                </c:pt>
                <c:pt idx="1">
                  <c:v>1.847</c:v>
                </c:pt>
                <c:pt idx="2">
                  <c:v>1.8280000000000001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EA5-4CEF-9C53-11A68B4DE3B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17997920"/>
        <c:axId val="17999360"/>
      </c:barChart>
      <c:catAx>
        <c:axId val="179979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9360"/>
        <c:crosses val="autoZero"/>
        <c:auto val="1"/>
        <c:lblAlgn val="ctr"/>
        <c:lblOffset val="100"/>
        <c:noMultiLvlLbl val="0"/>
      </c:catAx>
      <c:valAx>
        <c:axId val="17999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792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t-PT" noProof="0" dirty="0"/>
              <a:t>T.</a:t>
            </a:r>
            <a:r>
              <a:rPr lang="pt-PT" baseline="0" noProof="0" dirty="0"/>
              <a:t> Resposta</a:t>
            </a:r>
            <a:r>
              <a:rPr lang="en-US" baseline="0" noProof="0" dirty="0"/>
              <a:t> </a:t>
            </a:r>
            <a:r>
              <a:rPr lang="en-US" baseline="0" noProof="0" dirty="0" err="1"/>
              <a:t>por</a:t>
            </a:r>
            <a:r>
              <a:rPr lang="en-US" baseline="0" noProof="0" dirty="0"/>
              <a:t> </a:t>
            </a:r>
            <a:r>
              <a:rPr lang="en-US" baseline="0" noProof="0" dirty="0" err="1"/>
              <a:t>Quantidade</a:t>
            </a:r>
            <a:r>
              <a:rPr lang="en-US" baseline="0" noProof="0" dirty="0"/>
              <a:t> de Logs </a:t>
            </a:r>
            <a:r>
              <a:rPr lang="pt-PT" noProof="0" dirty="0"/>
              <a:t>- gemma3:4b (Antes)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gpt-oss:120b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tint val="96000"/>
                    <a:lumMod val="100000"/>
                  </a:schemeClr>
                </a:gs>
                <a:gs pos="78000">
                  <a:schemeClr val="accent1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  <c:pt idx="0">
                  <c:v>6.0060000000000002</c:v>
                </c:pt>
                <c:pt idx="1">
                  <c:v>4.8070000000000004</c:v>
                </c:pt>
                <c:pt idx="2">
                  <c:v>2.9710000000000001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CA-41B5-934F-98E5008921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deepseek-r1:8b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tint val="96000"/>
                    <a:lumMod val="100000"/>
                  </a:schemeClr>
                </a:gs>
                <a:gs pos="78000">
                  <a:schemeClr val="accent2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2.1240000000000001</c:v>
                </c:pt>
                <c:pt idx="1">
                  <c:v>2.4009999999999998</c:v>
                </c:pt>
                <c:pt idx="2">
                  <c:v>2.5840000000000001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CA-41B5-934F-98E5008921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gemma3:4b</c:v>
                </c:pt>
              </c:strCache>
            </c:strRef>
          </c:tx>
          <c:spPr>
            <a:gradFill rotWithShape="1">
              <a:gsLst>
                <a:gs pos="0">
                  <a:schemeClr val="accent3">
                    <a:tint val="96000"/>
                    <a:lumMod val="100000"/>
                  </a:schemeClr>
                </a:gs>
                <a:gs pos="78000">
                  <a:schemeClr val="accent3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Sheet1!$D$2:$D$4</c:f>
              <c:numCache>
                <c:formatCode>General</c:formatCode>
                <c:ptCount val="3"/>
                <c:pt idx="0">
                  <c:v>2.2629999999999999</c:v>
                </c:pt>
                <c:pt idx="1">
                  <c:v>0.96099999999999997</c:v>
                </c:pt>
                <c:pt idx="2">
                  <c:v>2.34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CA-41B5-934F-98E5008921A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qwen3:4b</c:v>
                </c:pt>
              </c:strCache>
            </c:strRef>
          </c:tx>
          <c:spPr>
            <a:gradFill rotWithShape="1">
              <a:gsLst>
                <a:gs pos="0">
                  <a:schemeClr val="accent4">
                    <a:tint val="96000"/>
                    <a:lumMod val="100000"/>
                  </a:schemeClr>
                </a:gs>
                <a:gs pos="78000">
                  <a:schemeClr val="accent4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Sheet1!$E$2:$E$4</c:f>
              <c:numCache>
                <c:formatCode>General</c:formatCode>
                <c:ptCount val="3"/>
                <c:pt idx="0">
                  <c:v>2.0819999999999999</c:v>
                </c:pt>
                <c:pt idx="1">
                  <c:v>3.6309999999999998</c:v>
                </c:pt>
                <c:pt idx="2">
                  <c:v>2.3029999999999999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CA-41B5-934F-98E5008921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17997920"/>
        <c:axId val="17999360"/>
      </c:barChart>
      <c:catAx>
        <c:axId val="179979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9360"/>
        <c:crosses val="autoZero"/>
        <c:auto val="1"/>
        <c:lblAlgn val="ctr"/>
        <c:lblOffset val="100"/>
        <c:noMultiLvlLbl val="0"/>
      </c:catAx>
      <c:valAx>
        <c:axId val="17999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792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noProof="0" dirty="0"/>
              <a:t>T. </a:t>
            </a:r>
            <a:r>
              <a:rPr lang="en-US" noProof="0" dirty="0" err="1"/>
              <a:t>Resposta</a:t>
            </a:r>
            <a:r>
              <a:rPr lang="en-US" baseline="0" noProof="0" dirty="0"/>
              <a:t> </a:t>
            </a:r>
            <a:r>
              <a:rPr lang="en-US" baseline="0" noProof="0" dirty="0" err="1"/>
              <a:t>por</a:t>
            </a:r>
            <a:r>
              <a:rPr lang="en-US" baseline="0" noProof="0" dirty="0"/>
              <a:t> </a:t>
            </a:r>
            <a:r>
              <a:rPr lang="en-US" baseline="0" noProof="0" dirty="0" err="1"/>
              <a:t>Quantidade</a:t>
            </a:r>
            <a:r>
              <a:rPr lang="en-US" baseline="0" noProof="0" dirty="0"/>
              <a:t> de Logs </a:t>
            </a:r>
            <a:r>
              <a:rPr lang="pt-PT" noProof="0" dirty="0"/>
              <a:t>- qwen3:4b</a:t>
            </a:r>
            <a:r>
              <a:rPr lang="pt-PT" baseline="0" noProof="0" dirty="0"/>
              <a:t> </a:t>
            </a:r>
            <a:r>
              <a:rPr lang="pt-PT" noProof="0" dirty="0"/>
              <a:t>(Antes)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gpt-oss:120b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tint val="96000"/>
                    <a:lumMod val="100000"/>
                  </a:schemeClr>
                </a:gs>
                <a:gs pos="78000">
                  <a:schemeClr val="accent1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30.635999999999999</c:v>
                </c:pt>
                <c:pt idx="1">
                  <c:v>111.639</c:v>
                </c:pt>
                <c:pt idx="2">
                  <c:v>29.773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694-4A6D-BF73-054854AD80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deepseek-r1:8b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tint val="96000"/>
                    <a:lumMod val="100000"/>
                  </a:schemeClr>
                </a:gs>
                <a:gs pos="78000">
                  <a:schemeClr val="accent2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Sheet1!$C$2:$C$4</c:f>
              <c:numCache>
                <c:formatCode>General</c:formatCode>
                <c:ptCount val="3"/>
                <c:pt idx="0">
                  <c:v>324.56</c:v>
                </c:pt>
                <c:pt idx="1">
                  <c:v>32.18</c:v>
                </c:pt>
                <c:pt idx="2">
                  <c:v>21.303999999999998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694-4A6D-BF73-054854AD80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gemma3:4b</c:v>
                </c:pt>
              </c:strCache>
            </c:strRef>
          </c:tx>
          <c:spPr>
            <a:gradFill rotWithShape="1">
              <a:gsLst>
                <a:gs pos="0">
                  <a:schemeClr val="accent3">
                    <a:tint val="96000"/>
                    <a:lumMod val="100000"/>
                  </a:schemeClr>
                </a:gs>
                <a:gs pos="78000">
                  <a:schemeClr val="accent3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Sheet1!$D$2:$D$4</c:f>
              <c:numCache>
                <c:formatCode>General</c:formatCode>
                <c:ptCount val="3"/>
                <c:pt idx="0">
                  <c:v>28.33</c:v>
                </c:pt>
                <c:pt idx="1">
                  <c:v>38.118000000000002</c:v>
                </c:pt>
                <c:pt idx="2">
                  <c:v>25.68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694-4A6D-BF73-054854AD80A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qwen3:4b</c:v>
                </c:pt>
              </c:strCache>
            </c:strRef>
          </c:tx>
          <c:spPr>
            <a:gradFill rotWithShape="1">
              <a:gsLst>
                <a:gs pos="0">
                  <a:schemeClr val="accent4">
                    <a:tint val="96000"/>
                    <a:lumMod val="100000"/>
                  </a:schemeClr>
                </a:gs>
                <a:gs pos="78000">
                  <a:schemeClr val="accent4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Sheet1!$E$2:$E$4</c:f>
              <c:numCache>
                <c:formatCode>General</c:formatCode>
                <c:ptCount val="3"/>
                <c:pt idx="0">
                  <c:v>28.170999999999999</c:v>
                </c:pt>
                <c:pt idx="1">
                  <c:v>27.181000000000001</c:v>
                </c:pt>
                <c:pt idx="2">
                  <c:v>33.537999999999997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694-4A6D-BF73-054854AD80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17997920"/>
        <c:axId val="17999360"/>
      </c:barChart>
      <c:catAx>
        <c:axId val="179979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9360"/>
        <c:crosses val="autoZero"/>
        <c:auto val="1"/>
        <c:lblAlgn val="ctr"/>
        <c:lblOffset val="100"/>
        <c:noMultiLvlLbl val="0"/>
      </c:catAx>
      <c:valAx>
        <c:axId val="17999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792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baseline="0" noProof="0" dirty="0"/>
              <a:t>T. </a:t>
            </a:r>
            <a:r>
              <a:rPr lang="en-US" baseline="0" noProof="0" dirty="0" err="1"/>
              <a:t>Resposta</a:t>
            </a:r>
            <a:r>
              <a:rPr lang="en-US" baseline="0" noProof="0" dirty="0"/>
              <a:t> </a:t>
            </a:r>
            <a:r>
              <a:rPr lang="en-US" baseline="0" noProof="0" dirty="0" err="1"/>
              <a:t>por</a:t>
            </a:r>
            <a:r>
              <a:rPr lang="en-US" baseline="0" noProof="0" dirty="0"/>
              <a:t> </a:t>
            </a:r>
            <a:r>
              <a:rPr lang="en-US" baseline="0" noProof="0" dirty="0" err="1"/>
              <a:t>Quantidade</a:t>
            </a:r>
            <a:r>
              <a:rPr lang="en-US" baseline="0" noProof="0" dirty="0"/>
              <a:t> de Logs </a:t>
            </a:r>
            <a:r>
              <a:rPr lang="pt-PT" noProof="0" dirty="0"/>
              <a:t>- gemma3:4b (Depois)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gpt-oss:120b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tint val="96000"/>
                    <a:lumMod val="100000"/>
                  </a:schemeClr>
                </a:gs>
                <a:gs pos="78000">
                  <a:schemeClr val="accent1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4.5270000000000001</c:v>
                </c:pt>
                <c:pt idx="1">
                  <c:v>4.0119999999999996</c:v>
                </c:pt>
                <c:pt idx="2">
                  <c:v>2.3519999999999999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105-4A1B-B826-475772F63E3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deepseek-r1:8b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tint val="96000"/>
                    <a:lumMod val="100000"/>
                  </a:schemeClr>
                </a:gs>
                <a:gs pos="78000">
                  <a:schemeClr val="accent2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2.5299999999999998</c:v>
                </c:pt>
                <c:pt idx="1">
                  <c:v>3.605</c:v>
                </c:pt>
                <c:pt idx="2">
                  <c:v>2.5150000000000001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105-4A1B-B826-475772F63E3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gemma3:4b</c:v>
                </c:pt>
              </c:strCache>
            </c:strRef>
          </c:tx>
          <c:spPr>
            <a:gradFill rotWithShape="1">
              <a:gsLst>
                <a:gs pos="0">
                  <a:schemeClr val="accent3">
                    <a:tint val="96000"/>
                    <a:lumMod val="100000"/>
                  </a:schemeClr>
                </a:gs>
                <a:gs pos="78000">
                  <a:schemeClr val="accent3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Sheet1!$D$2:$D$4</c:f>
              <c:numCache>
                <c:formatCode>General</c:formatCode>
                <c:ptCount val="3"/>
                <c:pt idx="0">
                  <c:v>2.1240000000000001</c:v>
                </c:pt>
                <c:pt idx="1">
                  <c:v>2.0089999999999999</c:v>
                </c:pt>
                <c:pt idx="2">
                  <c:v>2.7639999999999998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105-4A1B-B826-475772F63E3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qwen3:4b</c:v>
                </c:pt>
              </c:strCache>
            </c:strRef>
          </c:tx>
          <c:spPr>
            <a:gradFill rotWithShape="1">
              <a:gsLst>
                <a:gs pos="0">
                  <a:schemeClr val="accent4">
                    <a:tint val="96000"/>
                    <a:lumMod val="100000"/>
                  </a:schemeClr>
                </a:gs>
                <a:gs pos="78000">
                  <a:schemeClr val="accent4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Sheet1!$E$2:$E$4</c:f>
              <c:numCache>
                <c:formatCode>General</c:formatCode>
                <c:ptCount val="3"/>
                <c:pt idx="0">
                  <c:v>1.915</c:v>
                </c:pt>
                <c:pt idx="1">
                  <c:v>3.1619999999999999</c:v>
                </c:pt>
                <c:pt idx="2">
                  <c:v>2.4169999999999998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105-4A1B-B826-475772F63E3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17997920"/>
        <c:axId val="17999360"/>
      </c:barChart>
      <c:catAx>
        <c:axId val="179979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9360"/>
        <c:crosses val="autoZero"/>
        <c:auto val="1"/>
        <c:lblAlgn val="ctr"/>
        <c:lblOffset val="100"/>
        <c:noMultiLvlLbl val="0"/>
      </c:catAx>
      <c:valAx>
        <c:axId val="17999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792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noProof="0" dirty="0"/>
              <a:t>T.</a:t>
            </a:r>
            <a:r>
              <a:rPr lang="en-US" baseline="0" noProof="0" dirty="0"/>
              <a:t> </a:t>
            </a:r>
            <a:r>
              <a:rPr lang="en-US" baseline="0" noProof="0" dirty="0" err="1"/>
              <a:t>Resposta</a:t>
            </a:r>
            <a:r>
              <a:rPr lang="en-US" baseline="0" noProof="0" dirty="0"/>
              <a:t> </a:t>
            </a:r>
            <a:r>
              <a:rPr lang="en-US" baseline="0" noProof="0" dirty="0" err="1"/>
              <a:t>por</a:t>
            </a:r>
            <a:r>
              <a:rPr lang="en-US" baseline="0" noProof="0" dirty="0"/>
              <a:t> </a:t>
            </a:r>
            <a:r>
              <a:rPr lang="en-US" baseline="0" noProof="0" dirty="0" err="1"/>
              <a:t>Quantidade</a:t>
            </a:r>
            <a:r>
              <a:rPr lang="en-US" baseline="0" noProof="0" dirty="0"/>
              <a:t> de Logs </a:t>
            </a:r>
            <a:r>
              <a:rPr lang="pt-PT" noProof="0" dirty="0"/>
              <a:t>- qwen3:4b (Depois)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gpt-oss:120b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tint val="96000"/>
                    <a:lumMod val="100000"/>
                  </a:schemeClr>
                </a:gs>
                <a:gs pos="78000">
                  <a:schemeClr val="accent1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13.484999999999999</c:v>
                </c:pt>
                <c:pt idx="1">
                  <c:v>27.219000000000001</c:v>
                </c:pt>
                <c:pt idx="2">
                  <c:v>17.266999999999999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EA8-4040-8548-EA46B4E1BD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deepseek-r1:8b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tint val="96000"/>
                    <a:lumMod val="100000"/>
                  </a:schemeClr>
                </a:gs>
                <a:gs pos="78000">
                  <a:schemeClr val="accent2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Sheet1!$C$2:$C$4</c:f>
              <c:numCache>
                <c:formatCode>General</c:formatCode>
                <c:ptCount val="3"/>
                <c:pt idx="0">
                  <c:v>27.853999999999999</c:v>
                </c:pt>
                <c:pt idx="1">
                  <c:v>25.949000000000002</c:v>
                </c:pt>
                <c:pt idx="2">
                  <c:v>26.263999999999999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EA8-4040-8548-EA46B4E1BDF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gemma3:4b</c:v>
                </c:pt>
              </c:strCache>
            </c:strRef>
          </c:tx>
          <c:spPr>
            <a:gradFill rotWithShape="1">
              <a:gsLst>
                <a:gs pos="0">
                  <a:schemeClr val="accent3">
                    <a:tint val="96000"/>
                    <a:lumMod val="100000"/>
                  </a:schemeClr>
                </a:gs>
                <a:gs pos="78000">
                  <a:schemeClr val="accent3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15.002000000000001</c:v>
                </c:pt>
                <c:pt idx="1">
                  <c:v>37.631999999999998</c:v>
                </c:pt>
                <c:pt idx="2">
                  <c:v>26.533000000000001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EA8-4040-8548-EA46B4E1BDF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qwen3:4b</c:v>
                </c:pt>
              </c:strCache>
            </c:strRef>
          </c:tx>
          <c:spPr>
            <a:gradFill rotWithShape="1">
              <a:gsLst>
                <a:gs pos="0">
                  <a:schemeClr val="accent4">
                    <a:tint val="96000"/>
                    <a:lumMod val="100000"/>
                  </a:schemeClr>
                </a:gs>
                <a:gs pos="78000">
                  <a:schemeClr val="accent4">
                    <a:shade val="94000"/>
                    <a:lumMod val="94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0800" dist="381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l"/>
            </a:scene3d>
            <a:sp3d prstMaterial="plastic">
              <a:bevelT w="0" h="0"/>
            </a:sp3d>
          </c:spPr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5</c:v>
                </c:pt>
                <c:pt idx="1">
                  <c:v>25</c:v>
                </c:pt>
                <c:pt idx="2">
                  <c:v>50</c:v>
                </c:pt>
              </c:numCache>
            </c:numRef>
          </c:cat>
          <c:val>
            <c:numRef>
              <c:f>Sheet1!$E$2:$E$4</c:f>
              <c:numCache>
                <c:formatCode>General</c:formatCode>
                <c:ptCount val="3"/>
                <c:pt idx="0">
                  <c:v>35.088999999999999</c:v>
                </c:pt>
                <c:pt idx="1">
                  <c:v>31.39</c:v>
                </c:pt>
                <c:pt idx="2">
                  <c:v>9.2449999999999992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EA8-4040-8548-EA46B4E1BD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17997920"/>
        <c:axId val="17999360"/>
      </c:barChart>
      <c:catAx>
        <c:axId val="179979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9360"/>
        <c:crosses val="autoZero"/>
        <c:auto val="1"/>
        <c:lblAlgn val="ctr"/>
        <c:lblOffset val="100"/>
        <c:noMultiLvlLbl val="0"/>
      </c:catAx>
      <c:valAx>
        <c:axId val="17999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9792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5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6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7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8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9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10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11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12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13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14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15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16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17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18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19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20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21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22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23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24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PT"/>
              <a:t>Clique para editar o estilo de subtítulo do Modelo Global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2025-11-11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4731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2025-11-11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42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2025-11-11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6858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2025-11-11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662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2025-11-11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852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2025-11-11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809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2025-11-11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7000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2025-11-11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23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2025-11-11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6207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2025-11-11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9210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2025-11-11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76187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2025-11-11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1773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 com Cit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2025-11-11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482554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2025-11-11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8053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2025-11-11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05298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2025-11-11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8337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2025-11-11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5952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8.xml"/><Relationship Id="rId4" Type="http://schemas.openxmlformats.org/officeDocument/2006/relationships/chart" Target="../charts/char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2.xml"/><Relationship Id="rId4" Type="http://schemas.openxmlformats.org/officeDocument/2006/relationships/chart" Target="../charts/char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6.xml"/><Relationship Id="rId4" Type="http://schemas.openxmlformats.org/officeDocument/2006/relationships/chart" Target="../charts/chart1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chart" Target="../charts/chart17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20.xml"/><Relationship Id="rId4" Type="http://schemas.openxmlformats.org/officeDocument/2006/relationships/chart" Target="../charts/chart1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2.xml"/><Relationship Id="rId2" Type="http://schemas.openxmlformats.org/officeDocument/2006/relationships/chart" Target="../charts/chart21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24.xml"/><Relationship Id="rId4" Type="http://schemas.openxmlformats.org/officeDocument/2006/relationships/chart" Target="../charts/chart2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PT" noProof="0" dirty="0"/>
              <a:t>Ponto de Situação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44777-2026-BA73-E53A-FACD90D32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Melhorias</a:t>
            </a:r>
            <a:r>
              <a:rPr lang="en-US" dirty="0"/>
              <a:t> </a:t>
            </a:r>
            <a:r>
              <a:rPr lang="en-US" dirty="0" err="1"/>
              <a:t>Implementadas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CABF01-96C9-14E6-01DA-99C6167B2D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/>
              <a:t>Validação do Formato JSON: </a:t>
            </a:r>
          </a:p>
          <a:p>
            <a:pPr lvl="1"/>
            <a:r>
              <a:rPr lang="pt-BR" dirty="0"/>
              <a:t>Tentou-se ajustar o formato de output para procurar garantir JSON válido em todos os testes, evitando gráficos de precisão vazios.</a:t>
            </a:r>
          </a:p>
          <a:p>
            <a:r>
              <a:rPr lang="pt-BR" b="1" dirty="0"/>
              <a:t>Redução do Tamanho dos Logs:</a:t>
            </a:r>
            <a:r>
              <a:rPr lang="pt-BR" dirty="0"/>
              <a:t> </a:t>
            </a:r>
          </a:p>
          <a:p>
            <a:pPr lvl="1"/>
            <a:r>
              <a:rPr lang="pt-BR" dirty="0"/>
              <a:t>Realizou-se um “trim” das informações irrelevantes dos logs para reduzir a quantidade de texto a processar, procurando-se aumentar a precisão.</a:t>
            </a:r>
          </a:p>
          <a:p>
            <a:r>
              <a:rPr lang="pt-BR" b="1" dirty="0"/>
              <a:t>Implementação Inicial do MCP: </a:t>
            </a:r>
          </a:p>
          <a:p>
            <a:pPr lvl="1"/>
            <a:r>
              <a:rPr lang="pt-BR" dirty="0"/>
              <a:t>Criou-se uma versão muito inicial do Model Context Protocol, com o objetivo de se facilitar a expansão futura de novas funcionalidades.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57898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28460BD8-AE3F-4AC9-9D0B-717052AA5D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4420CFE-F482-466E-9E1E-C78513C0B8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331032B-BD21-4BDA-920C-12E3580525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Rectangle 23">
              <a:extLst>
                <a:ext uri="{FF2B5EF4-FFF2-40B4-BE49-F238E27FC236}">
                  <a16:creationId xmlns:a16="http://schemas.microsoft.com/office/drawing/2014/main" id="{E7514DA3-59E7-409E-8A3B-AD097F6E56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5" name="Rectangle 25">
              <a:extLst>
                <a:ext uri="{FF2B5EF4-FFF2-40B4-BE49-F238E27FC236}">
                  <a16:creationId xmlns:a16="http://schemas.microsoft.com/office/drawing/2014/main" id="{57B9A2A6-3BE4-4599-9364-F71C5BFD61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4FD744C6-4ED8-4BC9-BF68-6BDF701C5D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Rectangle 27">
              <a:extLst>
                <a:ext uri="{FF2B5EF4-FFF2-40B4-BE49-F238E27FC236}">
                  <a16:creationId xmlns:a16="http://schemas.microsoft.com/office/drawing/2014/main" id="{092C5BAD-C911-4F8F-A1C5-470268BE6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Rectangle 28">
              <a:extLst>
                <a:ext uri="{FF2B5EF4-FFF2-40B4-BE49-F238E27FC236}">
                  <a16:creationId xmlns:a16="http://schemas.microsoft.com/office/drawing/2014/main" id="{B133D0C8-4EC4-424F-8E70-0482D5B1B6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Rectangle 29">
              <a:extLst>
                <a:ext uri="{FF2B5EF4-FFF2-40B4-BE49-F238E27FC236}">
                  <a16:creationId xmlns:a16="http://schemas.microsoft.com/office/drawing/2014/main" id="{7B1532A0-F4B3-4DE8-B18F-740CAAD25A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8EFDD162-BBBA-4062-8BBF-53DBA10913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DCFC9E65-3E19-4483-B952-25D29683CA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9179DE42-5613-4B35-A1E6-6CCBAA13C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B898B32-3891-4C3A-8F58-C5969D2E90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9524500" y="0"/>
            <a:ext cx="1219200" cy="6858000"/>
          </a:xfrm>
          <a:prstGeom prst="line">
            <a:avLst/>
          </a:prstGeom>
          <a:ln w="952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AE4806D-B8F9-4679-A68A-9BD21C01A3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361267" y="3681413"/>
            <a:ext cx="4763558" cy="3176587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3">
            <a:extLst>
              <a:ext uri="{FF2B5EF4-FFF2-40B4-BE49-F238E27FC236}">
                <a16:creationId xmlns:a16="http://schemas.microsoft.com/office/drawing/2014/main" id="{52FB45E9-914E-4471-AC87-E475CD5176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25887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C310626D-5743-49D4-8F7D-88C4F8F057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2271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3C195FC1-B568-4C72-9902-34CB35DDD7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22712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1" name="Rectangle 27">
            <a:extLst>
              <a:ext uri="{FF2B5EF4-FFF2-40B4-BE49-F238E27FC236}">
                <a16:creationId xmlns:a16="http://schemas.microsoft.com/office/drawing/2014/main" id="{EF2BDF77-362C-43F0-8CBB-A969EC2AE0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25886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4BE96B01-3929-432D-B8C2-ADBCB74C2E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25887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2A6FCDE6-CDE2-4C51-B18E-A95CFB679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-8467"/>
            <a:ext cx="9175713" cy="6866467"/>
          </a:xfrm>
          <a:custGeom>
            <a:avLst/>
            <a:gdLst>
              <a:gd name="connsiteX0" fmla="*/ 0 w 9175713"/>
              <a:gd name="connsiteY0" fmla="*/ 0 h 6866467"/>
              <a:gd name="connsiteX1" fmla="*/ 1249825 w 9175713"/>
              <a:gd name="connsiteY1" fmla="*/ 0 h 6866467"/>
              <a:gd name="connsiteX2" fmla="*/ 1249825 w 9175713"/>
              <a:gd name="connsiteY2" fmla="*/ 8467 h 6866467"/>
              <a:gd name="connsiteX3" fmla="*/ 9175713 w 9175713"/>
              <a:gd name="connsiteY3" fmla="*/ 8467 h 6866467"/>
              <a:gd name="connsiteX4" fmla="*/ 9175713 w 9175713"/>
              <a:gd name="connsiteY4" fmla="*/ 6866467 h 6866467"/>
              <a:gd name="connsiteX5" fmla="*/ 1249825 w 9175713"/>
              <a:gd name="connsiteY5" fmla="*/ 6866467 h 6866467"/>
              <a:gd name="connsiteX6" fmla="*/ 1109382 w 9175713"/>
              <a:gd name="connsiteY6" fmla="*/ 6866467 h 686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175713" h="6866467">
                <a:moveTo>
                  <a:pt x="0" y="0"/>
                </a:moveTo>
                <a:lnTo>
                  <a:pt x="1249825" y="0"/>
                </a:lnTo>
                <a:lnTo>
                  <a:pt x="1249825" y="8467"/>
                </a:lnTo>
                <a:lnTo>
                  <a:pt x="9175713" y="8467"/>
                </a:lnTo>
                <a:lnTo>
                  <a:pt x="9175713" y="6866467"/>
                </a:lnTo>
                <a:lnTo>
                  <a:pt x="1249825" y="6866467"/>
                </a:lnTo>
                <a:lnTo>
                  <a:pt x="1109382" y="686646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F79C8A-2065-ADB8-8A28-84C14751D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4120" y="1020871"/>
            <a:ext cx="6960759" cy="2849671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6600" dirty="0" err="1">
                <a:solidFill>
                  <a:srgbClr val="FFFFFF"/>
                </a:solidFill>
              </a:rPr>
              <a:t>Precisão</a:t>
            </a:r>
            <a:r>
              <a:rPr lang="en-US" sz="6600" dirty="0">
                <a:solidFill>
                  <a:srgbClr val="FFFFFF"/>
                </a:solidFill>
              </a:rPr>
              <a:t> </a:t>
            </a:r>
            <a:r>
              <a:rPr lang="en-US" sz="6600" dirty="0" err="1">
                <a:solidFill>
                  <a:srgbClr val="FFFFFF"/>
                </a:solidFill>
              </a:rPr>
              <a:t>por</a:t>
            </a:r>
            <a:r>
              <a:rPr lang="en-US" sz="6600" dirty="0">
                <a:solidFill>
                  <a:srgbClr val="FFFFFF"/>
                </a:solidFill>
              </a:rPr>
              <a:t> </a:t>
            </a:r>
            <a:r>
              <a:rPr lang="en-US" sz="6600" dirty="0" err="1">
                <a:solidFill>
                  <a:srgbClr val="FFFFFF"/>
                </a:solidFill>
              </a:rPr>
              <a:t>Quantidade</a:t>
            </a:r>
            <a:r>
              <a:rPr lang="en-US" sz="6600" dirty="0">
                <a:solidFill>
                  <a:srgbClr val="FFFFFF"/>
                </a:solidFill>
              </a:rPr>
              <a:t> de Logs </a:t>
            </a:r>
          </a:p>
        </p:txBody>
      </p:sp>
      <p:sp>
        <p:nvSpPr>
          <p:cNvPr id="37" name="Isosceles Triangle 36">
            <a:extLst>
              <a:ext uri="{FF2B5EF4-FFF2-40B4-BE49-F238E27FC236}">
                <a16:creationId xmlns:a16="http://schemas.microsoft.com/office/drawing/2014/main" id="{9D2E8756-2465-473A-BA2A-2DB1D6224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92146" y="3271487"/>
            <a:ext cx="220660" cy="186439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124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C9C78D10-B604-8486-32A0-89938D995A2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74721518"/>
              </p:ext>
            </p:extLst>
          </p:nvPr>
        </p:nvGraphicFramePr>
        <p:xfrm>
          <a:off x="604982" y="3429001"/>
          <a:ext cx="4918364" cy="32789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318316B1-94F1-5CE3-054A-10EC1477419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70149329"/>
              </p:ext>
            </p:extLst>
          </p:nvPr>
        </p:nvGraphicFramePr>
        <p:xfrm>
          <a:off x="6668652" y="3429001"/>
          <a:ext cx="4918364" cy="32789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B784F5BA-1A3E-8CD8-8B0A-2113BEC790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5213843"/>
              </p:ext>
            </p:extLst>
          </p:nvPr>
        </p:nvGraphicFramePr>
        <p:xfrm>
          <a:off x="604982" y="150090"/>
          <a:ext cx="4918364" cy="32789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4" name="Chart 13">
            <a:extLst>
              <a:ext uri="{FF2B5EF4-FFF2-40B4-BE49-F238E27FC236}">
                <a16:creationId xmlns:a16="http://schemas.microsoft.com/office/drawing/2014/main" id="{AB82888D-CB65-49D5-E631-83F43DA84B3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11172568"/>
              </p:ext>
            </p:extLst>
          </p:nvPr>
        </p:nvGraphicFramePr>
        <p:xfrm>
          <a:off x="6668652" y="150090"/>
          <a:ext cx="4918364" cy="32789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242491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18213E51-C755-9B1B-8106-44FFCC05E4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13463677"/>
              </p:ext>
            </p:extLst>
          </p:nvPr>
        </p:nvGraphicFramePr>
        <p:xfrm>
          <a:off x="604982" y="3429000"/>
          <a:ext cx="4918364" cy="32789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2C1BD3E4-1719-F8A4-91CA-C6ABD492DF4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4797431"/>
              </p:ext>
            </p:extLst>
          </p:nvPr>
        </p:nvGraphicFramePr>
        <p:xfrm>
          <a:off x="6668654" y="3429000"/>
          <a:ext cx="4918364" cy="32789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AB5200DA-2FAF-7E78-8764-70CE800FC5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19608104"/>
              </p:ext>
            </p:extLst>
          </p:nvPr>
        </p:nvGraphicFramePr>
        <p:xfrm>
          <a:off x="6668652" y="150090"/>
          <a:ext cx="4918364" cy="32789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45984CED-9953-9784-E1C7-7E112AB66D5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8518899"/>
              </p:ext>
            </p:extLst>
          </p:nvPr>
        </p:nvGraphicFramePr>
        <p:xfrm>
          <a:off x="604982" y="150089"/>
          <a:ext cx="4918366" cy="32789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38727007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C37380-AAB3-55BB-23BE-E3C43F5C2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700A229E-81A4-B54B-FB67-8A8EA567C5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EBA3F50-DCA8-5CA5-F951-89CE5538BA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FC09810-0115-0B14-2957-0B669D776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Rectangle 23">
              <a:extLst>
                <a:ext uri="{FF2B5EF4-FFF2-40B4-BE49-F238E27FC236}">
                  <a16:creationId xmlns:a16="http://schemas.microsoft.com/office/drawing/2014/main" id="{1E6843F9-BBFB-C9DB-AB47-E357CEBDB8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5" name="Rectangle 25">
              <a:extLst>
                <a:ext uri="{FF2B5EF4-FFF2-40B4-BE49-F238E27FC236}">
                  <a16:creationId xmlns:a16="http://schemas.microsoft.com/office/drawing/2014/main" id="{288642FB-727A-199A-0C90-7BC14F35E2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8AD2C6E9-6B26-B13A-A72F-91CB937A31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Rectangle 27">
              <a:extLst>
                <a:ext uri="{FF2B5EF4-FFF2-40B4-BE49-F238E27FC236}">
                  <a16:creationId xmlns:a16="http://schemas.microsoft.com/office/drawing/2014/main" id="{FA3FF850-138D-7C6C-FEE9-442554E41C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Rectangle 28">
              <a:extLst>
                <a:ext uri="{FF2B5EF4-FFF2-40B4-BE49-F238E27FC236}">
                  <a16:creationId xmlns:a16="http://schemas.microsoft.com/office/drawing/2014/main" id="{693D8D89-9978-30FA-E9FB-4DABC7C35A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Rectangle 29">
              <a:extLst>
                <a:ext uri="{FF2B5EF4-FFF2-40B4-BE49-F238E27FC236}">
                  <a16:creationId xmlns:a16="http://schemas.microsoft.com/office/drawing/2014/main" id="{3FCFB628-7FD5-345C-182E-316BF142EF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8DA35550-A785-A7F7-97CE-9A56FC6E3E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787480DA-3BA5-B3D6-DF41-706AD24600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ABBEF3E5-CF60-B776-A5EC-DDDBAB80F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0C6CED8-C1A8-97E2-4599-1F0921A7D4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9524500" y="0"/>
            <a:ext cx="1219200" cy="6858000"/>
          </a:xfrm>
          <a:prstGeom prst="line">
            <a:avLst/>
          </a:prstGeom>
          <a:ln w="952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3912156-7DF1-7B7C-FF3C-B551C1D492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361267" y="3681413"/>
            <a:ext cx="4763558" cy="3176587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3">
            <a:extLst>
              <a:ext uri="{FF2B5EF4-FFF2-40B4-BE49-F238E27FC236}">
                <a16:creationId xmlns:a16="http://schemas.microsoft.com/office/drawing/2014/main" id="{C3A42393-099B-3312-A416-DD3A85FE9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25887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035A746D-9D45-4EA2-1FB8-CC24D82107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2271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6463ECA6-5A29-0A41-09AC-36610656E4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22712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1" name="Rectangle 27">
            <a:extLst>
              <a:ext uri="{FF2B5EF4-FFF2-40B4-BE49-F238E27FC236}">
                <a16:creationId xmlns:a16="http://schemas.microsoft.com/office/drawing/2014/main" id="{B71DB747-FE77-80B2-5E5D-D73EDE0F9F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25886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22D4B02D-D013-0297-6D31-3B7BD1F5F7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25887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378BB4B-2E70-3A81-35E8-932EC27D0C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-8467"/>
            <a:ext cx="9175713" cy="6866467"/>
          </a:xfrm>
          <a:custGeom>
            <a:avLst/>
            <a:gdLst>
              <a:gd name="connsiteX0" fmla="*/ 0 w 9175713"/>
              <a:gd name="connsiteY0" fmla="*/ 0 h 6866467"/>
              <a:gd name="connsiteX1" fmla="*/ 1249825 w 9175713"/>
              <a:gd name="connsiteY1" fmla="*/ 0 h 6866467"/>
              <a:gd name="connsiteX2" fmla="*/ 1249825 w 9175713"/>
              <a:gd name="connsiteY2" fmla="*/ 8467 h 6866467"/>
              <a:gd name="connsiteX3" fmla="*/ 9175713 w 9175713"/>
              <a:gd name="connsiteY3" fmla="*/ 8467 h 6866467"/>
              <a:gd name="connsiteX4" fmla="*/ 9175713 w 9175713"/>
              <a:gd name="connsiteY4" fmla="*/ 6866467 h 6866467"/>
              <a:gd name="connsiteX5" fmla="*/ 1249825 w 9175713"/>
              <a:gd name="connsiteY5" fmla="*/ 6866467 h 6866467"/>
              <a:gd name="connsiteX6" fmla="*/ 1109382 w 9175713"/>
              <a:gd name="connsiteY6" fmla="*/ 6866467 h 686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175713" h="6866467">
                <a:moveTo>
                  <a:pt x="0" y="0"/>
                </a:moveTo>
                <a:lnTo>
                  <a:pt x="1249825" y="0"/>
                </a:lnTo>
                <a:lnTo>
                  <a:pt x="1249825" y="8467"/>
                </a:lnTo>
                <a:lnTo>
                  <a:pt x="9175713" y="8467"/>
                </a:lnTo>
                <a:lnTo>
                  <a:pt x="9175713" y="6866467"/>
                </a:lnTo>
                <a:lnTo>
                  <a:pt x="1249825" y="6866467"/>
                </a:lnTo>
                <a:lnTo>
                  <a:pt x="1109382" y="686646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CF7B30-7ED2-3C1B-26BA-E8DB17C2C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4120" y="1020871"/>
            <a:ext cx="6960759" cy="2849671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pt-PT" sz="6600" dirty="0" err="1">
                <a:solidFill>
                  <a:srgbClr val="FFFFFF"/>
                </a:solidFill>
              </a:rPr>
              <a:t>Tokens</a:t>
            </a:r>
            <a:r>
              <a:rPr lang="en-US" sz="6600" dirty="0">
                <a:solidFill>
                  <a:srgbClr val="FFFFFF"/>
                </a:solidFill>
              </a:rPr>
              <a:t>/s </a:t>
            </a:r>
            <a:r>
              <a:rPr lang="en-US" sz="6600" dirty="0" err="1">
                <a:solidFill>
                  <a:srgbClr val="FFFFFF"/>
                </a:solidFill>
              </a:rPr>
              <a:t>por</a:t>
            </a:r>
            <a:r>
              <a:rPr lang="en-US" sz="6600" dirty="0">
                <a:solidFill>
                  <a:srgbClr val="FFFFFF"/>
                </a:solidFill>
              </a:rPr>
              <a:t> </a:t>
            </a:r>
            <a:r>
              <a:rPr lang="en-US" sz="6600" dirty="0" err="1">
                <a:solidFill>
                  <a:srgbClr val="FFFFFF"/>
                </a:solidFill>
              </a:rPr>
              <a:t>Quantidade</a:t>
            </a:r>
            <a:r>
              <a:rPr lang="en-US" sz="6600" dirty="0">
                <a:solidFill>
                  <a:srgbClr val="FFFFFF"/>
                </a:solidFill>
              </a:rPr>
              <a:t> de Logs </a:t>
            </a:r>
          </a:p>
        </p:txBody>
      </p:sp>
      <p:sp>
        <p:nvSpPr>
          <p:cNvPr id="37" name="Isosceles Triangle 36">
            <a:extLst>
              <a:ext uri="{FF2B5EF4-FFF2-40B4-BE49-F238E27FC236}">
                <a16:creationId xmlns:a16="http://schemas.microsoft.com/office/drawing/2014/main" id="{B6990CCA-904F-49CE-9033-8AEB9314C3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92146" y="3271487"/>
            <a:ext cx="220660" cy="186439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7927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437CAA7F-E5AD-D08F-5171-9F0F97951C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56625452"/>
              </p:ext>
            </p:extLst>
          </p:nvPr>
        </p:nvGraphicFramePr>
        <p:xfrm>
          <a:off x="604982" y="150090"/>
          <a:ext cx="4918364" cy="32789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B23238CB-7135-95A8-28D5-372ED9997AA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81360444"/>
              </p:ext>
            </p:extLst>
          </p:nvPr>
        </p:nvGraphicFramePr>
        <p:xfrm>
          <a:off x="604982" y="3429000"/>
          <a:ext cx="4918364" cy="32789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5A6ADDE-02E0-F654-81E1-2D7756E0FF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0728614"/>
              </p:ext>
            </p:extLst>
          </p:nvPr>
        </p:nvGraphicFramePr>
        <p:xfrm>
          <a:off x="6668654" y="150090"/>
          <a:ext cx="4918364" cy="32789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70E633B8-408A-3B45-927E-D33448F518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67133889"/>
              </p:ext>
            </p:extLst>
          </p:nvPr>
        </p:nvGraphicFramePr>
        <p:xfrm>
          <a:off x="6668654" y="3429000"/>
          <a:ext cx="4918364" cy="32789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37754354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8A723746-A6C7-A850-44F6-AC23EA433BE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10887417"/>
              </p:ext>
            </p:extLst>
          </p:nvPr>
        </p:nvGraphicFramePr>
        <p:xfrm>
          <a:off x="604982" y="150090"/>
          <a:ext cx="4918364" cy="32789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E64F12B9-7DBE-F1F8-1980-2556FA35245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00350944"/>
              </p:ext>
            </p:extLst>
          </p:nvPr>
        </p:nvGraphicFramePr>
        <p:xfrm>
          <a:off x="604982" y="3429000"/>
          <a:ext cx="4918364" cy="32789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5144212A-E56C-72F3-E22C-BA485C3806B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90563546"/>
              </p:ext>
            </p:extLst>
          </p:nvPr>
        </p:nvGraphicFramePr>
        <p:xfrm>
          <a:off x="6668654" y="150090"/>
          <a:ext cx="4918364" cy="32789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F6085D67-A179-271F-896C-E305DA64D8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13283194"/>
              </p:ext>
            </p:extLst>
          </p:nvPr>
        </p:nvGraphicFramePr>
        <p:xfrm>
          <a:off x="6668654" y="3429000"/>
          <a:ext cx="4918364" cy="32789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28130387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ED519C-D00C-B648-7490-3E69EB2DB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CEE54319-3494-1C67-B4A7-4827A838E6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25BF4ED-CC58-E80F-9FF0-EDA752B3A2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817CA85-C2AA-84F5-7E9D-DC1FEC78F8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Rectangle 23">
              <a:extLst>
                <a:ext uri="{FF2B5EF4-FFF2-40B4-BE49-F238E27FC236}">
                  <a16:creationId xmlns:a16="http://schemas.microsoft.com/office/drawing/2014/main" id="{34B943FB-53CA-75E4-D559-DF174B38A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5" name="Rectangle 25">
              <a:extLst>
                <a:ext uri="{FF2B5EF4-FFF2-40B4-BE49-F238E27FC236}">
                  <a16:creationId xmlns:a16="http://schemas.microsoft.com/office/drawing/2014/main" id="{F530DC10-6C42-4C45-ACBA-927BBF119E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B475730D-A7DC-19D1-1AC2-6C85CB426D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Rectangle 27">
              <a:extLst>
                <a:ext uri="{FF2B5EF4-FFF2-40B4-BE49-F238E27FC236}">
                  <a16:creationId xmlns:a16="http://schemas.microsoft.com/office/drawing/2014/main" id="{AC43EF8B-BF2A-2A0D-62BA-20C8D4840B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Rectangle 28">
              <a:extLst>
                <a:ext uri="{FF2B5EF4-FFF2-40B4-BE49-F238E27FC236}">
                  <a16:creationId xmlns:a16="http://schemas.microsoft.com/office/drawing/2014/main" id="{B3CBA7B7-E44C-048D-8BF2-9C4E660E75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Rectangle 29">
              <a:extLst>
                <a:ext uri="{FF2B5EF4-FFF2-40B4-BE49-F238E27FC236}">
                  <a16:creationId xmlns:a16="http://schemas.microsoft.com/office/drawing/2014/main" id="{ACB2D5F3-E1B8-13C0-A5EF-81D9142CC5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7D2215D2-0039-5935-6AF4-064552F4EA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A955DC0D-7119-BB1D-F5DF-77F0DDC643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BD3A0812-D8BA-D7A1-05D4-016B959BC5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C82BB3C-C8A4-548B-A3DD-08A6A2731E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9524500" y="0"/>
            <a:ext cx="1219200" cy="6858000"/>
          </a:xfrm>
          <a:prstGeom prst="line">
            <a:avLst/>
          </a:prstGeom>
          <a:ln w="952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E2445F8-9196-EEDB-88F4-5F7FAF013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361267" y="3681413"/>
            <a:ext cx="4763558" cy="3176587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3">
            <a:extLst>
              <a:ext uri="{FF2B5EF4-FFF2-40B4-BE49-F238E27FC236}">
                <a16:creationId xmlns:a16="http://schemas.microsoft.com/office/drawing/2014/main" id="{A83878C2-78F3-C688-1B88-E3CF5132D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25887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294831E9-6E53-76AD-D009-D48D51C411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2271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CDA579A0-7DE9-9E3A-C2E6-9F6F7B0EC1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22712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1" name="Rectangle 27">
            <a:extLst>
              <a:ext uri="{FF2B5EF4-FFF2-40B4-BE49-F238E27FC236}">
                <a16:creationId xmlns:a16="http://schemas.microsoft.com/office/drawing/2014/main" id="{8526AE7A-1B58-668D-D465-90B6A02C16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25886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D5250754-89F6-1D8F-5634-5A8C656698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25887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2CF9C5EA-C1F8-A908-6C12-55957339A8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-8467"/>
            <a:ext cx="9175713" cy="6866467"/>
          </a:xfrm>
          <a:custGeom>
            <a:avLst/>
            <a:gdLst>
              <a:gd name="connsiteX0" fmla="*/ 0 w 9175713"/>
              <a:gd name="connsiteY0" fmla="*/ 0 h 6866467"/>
              <a:gd name="connsiteX1" fmla="*/ 1249825 w 9175713"/>
              <a:gd name="connsiteY1" fmla="*/ 0 h 6866467"/>
              <a:gd name="connsiteX2" fmla="*/ 1249825 w 9175713"/>
              <a:gd name="connsiteY2" fmla="*/ 8467 h 6866467"/>
              <a:gd name="connsiteX3" fmla="*/ 9175713 w 9175713"/>
              <a:gd name="connsiteY3" fmla="*/ 8467 h 6866467"/>
              <a:gd name="connsiteX4" fmla="*/ 9175713 w 9175713"/>
              <a:gd name="connsiteY4" fmla="*/ 6866467 h 6866467"/>
              <a:gd name="connsiteX5" fmla="*/ 1249825 w 9175713"/>
              <a:gd name="connsiteY5" fmla="*/ 6866467 h 6866467"/>
              <a:gd name="connsiteX6" fmla="*/ 1109382 w 9175713"/>
              <a:gd name="connsiteY6" fmla="*/ 6866467 h 686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175713" h="6866467">
                <a:moveTo>
                  <a:pt x="0" y="0"/>
                </a:moveTo>
                <a:lnTo>
                  <a:pt x="1249825" y="0"/>
                </a:lnTo>
                <a:lnTo>
                  <a:pt x="1249825" y="8467"/>
                </a:lnTo>
                <a:lnTo>
                  <a:pt x="9175713" y="8467"/>
                </a:lnTo>
                <a:lnTo>
                  <a:pt x="9175713" y="6866467"/>
                </a:lnTo>
                <a:lnTo>
                  <a:pt x="1249825" y="6866467"/>
                </a:lnTo>
                <a:lnTo>
                  <a:pt x="1109382" y="686646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2F74DB3-AD0B-B3D1-EB07-9AE9D9DC4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4120" y="1020871"/>
            <a:ext cx="6960759" cy="2849671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pt-PT" sz="6600" dirty="0">
                <a:solidFill>
                  <a:srgbClr val="FFFFFF"/>
                </a:solidFill>
              </a:rPr>
              <a:t>T. Resposta</a:t>
            </a:r>
            <a:r>
              <a:rPr lang="en-US" sz="6600" dirty="0">
                <a:solidFill>
                  <a:srgbClr val="FFFFFF"/>
                </a:solidFill>
              </a:rPr>
              <a:t> </a:t>
            </a:r>
            <a:r>
              <a:rPr lang="en-US" sz="6600" dirty="0" err="1">
                <a:solidFill>
                  <a:srgbClr val="FFFFFF"/>
                </a:solidFill>
              </a:rPr>
              <a:t>por</a:t>
            </a:r>
            <a:r>
              <a:rPr lang="en-US" sz="6600" dirty="0">
                <a:solidFill>
                  <a:srgbClr val="FFFFFF"/>
                </a:solidFill>
              </a:rPr>
              <a:t> </a:t>
            </a:r>
            <a:r>
              <a:rPr lang="en-US" sz="6600" dirty="0" err="1">
                <a:solidFill>
                  <a:srgbClr val="FFFFFF"/>
                </a:solidFill>
              </a:rPr>
              <a:t>Quantidade</a:t>
            </a:r>
            <a:r>
              <a:rPr lang="en-US" sz="6600" dirty="0">
                <a:solidFill>
                  <a:srgbClr val="FFFFFF"/>
                </a:solidFill>
              </a:rPr>
              <a:t> de Logs</a:t>
            </a:r>
          </a:p>
        </p:txBody>
      </p:sp>
      <p:sp>
        <p:nvSpPr>
          <p:cNvPr id="37" name="Isosceles Triangle 36">
            <a:extLst>
              <a:ext uri="{FF2B5EF4-FFF2-40B4-BE49-F238E27FC236}">
                <a16:creationId xmlns:a16="http://schemas.microsoft.com/office/drawing/2014/main" id="{72E93DB2-4320-9E9E-1BD5-D8FD8633E2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92146" y="3271487"/>
            <a:ext cx="220660" cy="186439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0832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F7C4CA31-8D6C-EEC9-FF8E-A864971B8B1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51922245"/>
              </p:ext>
            </p:extLst>
          </p:nvPr>
        </p:nvGraphicFramePr>
        <p:xfrm>
          <a:off x="604982" y="150090"/>
          <a:ext cx="4918364" cy="32789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B1101694-D930-0541-90D6-796D9CFC98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21704426"/>
              </p:ext>
            </p:extLst>
          </p:nvPr>
        </p:nvGraphicFramePr>
        <p:xfrm>
          <a:off x="604982" y="3429000"/>
          <a:ext cx="4918364" cy="32789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A08E4A76-3143-6853-3FB5-1E7B1A5272B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30677601"/>
              </p:ext>
            </p:extLst>
          </p:nvPr>
        </p:nvGraphicFramePr>
        <p:xfrm>
          <a:off x="6668654" y="150090"/>
          <a:ext cx="4918364" cy="32789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CB7ED540-1028-E3F9-AD73-DD893C7E2F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24678726"/>
              </p:ext>
            </p:extLst>
          </p:nvPr>
        </p:nvGraphicFramePr>
        <p:xfrm>
          <a:off x="6668654" y="3429000"/>
          <a:ext cx="4918364" cy="32789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38815691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7591DCE1-FDBC-B035-AD2A-BC860B0A6B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48282566"/>
              </p:ext>
            </p:extLst>
          </p:nvPr>
        </p:nvGraphicFramePr>
        <p:xfrm>
          <a:off x="604982" y="150090"/>
          <a:ext cx="4918364" cy="32789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E30F73BE-6062-BECB-9D8A-98BCC08F0AA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466376"/>
              </p:ext>
            </p:extLst>
          </p:nvPr>
        </p:nvGraphicFramePr>
        <p:xfrm>
          <a:off x="604982" y="3429000"/>
          <a:ext cx="4918364" cy="32789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0B3D3F9-CDEA-889B-81C8-48566CE7971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62442733"/>
              </p:ext>
            </p:extLst>
          </p:nvPr>
        </p:nvGraphicFramePr>
        <p:xfrm>
          <a:off x="6668654" y="150090"/>
          <a:ext cx="4918364" cy="32789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7BA64F22-F5BF-BA30-DF84-B3C70C16D0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33106123"/>
              </p:ext>
            </p:extLst>
          </p:nvPr>
        </p:nvGraphicFramePr>
        <p:xfrm>
          <a:off x="6668654" y="3429000"/>
          <a:ext cx="4918364" cy="32789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42032746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49A6F4-A16F-6EA4-6D48-B85170CCD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noProof="0" dirty="0"/>
              <a:t>Análise dos resultados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20CA7DF7-C359-F783-4454-C90206403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pt-PT" b="1" noProof="0" dirty="0"/>
              <a:t>Precisão:</a:t>
            </a:r>
          </a:p>
          <a:p>
            <a:pPr lvl="1"/>
            <a:r>
              <a:rPr lang="pt-BR" dirty="0"/>
              <a:t>O </a:t>
            </a:r>
            <a:r>
              <a:rPr lang="pt-BR" sz="1700" dirty="0"/>
              <a:t>gemma3:4b</a:t>
            </a:r>
            <a:r>
              <a:rPr lang="pt-BR" dirty="0"/>
              <a:t> obteve a melhor precisão média (≈ 19,3 %), seguida do gpt-oss:120B (≈ 19 %).</a:t>
            </a:r>
          </a:p>
          <a:p>
            <a:pPr lvl="1"/>
            <a:r>
              <a:rPr lang="pt-BR" dirty="0"/>
              <a:t>O deepseek-r1:8b e o qwen3:4b registaram uma precisão mais baixa (≈ 12 %), revelando comportamento menos consistente nos testes.</a:t>
            </a:r>
            <a:endParaRPr lang="pt-PT" noProof="0" dirty="0"/>
          </a:p>
          <a:p>
            <a:r>
              <a:rPr lang="pt-PT" b="1" noProof="0" dirty="0"/>
              <a:t>Velocidade e Tempo de Resposta:</a:t>
            </a:r>
          </a:p>
          <a:p>
            <a:pPr lvl="1"/>
            <a:r>
              <a:rPr lang="pt-BR" dirty="0"/>
              <a:t>O gemma3:4b e o gpt-oss:120b apresentaram tempos de execução equilibrados e estáveis.</a:t>
            </a:r>
          </a:p>
          <a:p>
            <a:pPr lvl="1"/>
            <a:r>
              <a:rPr lang="pt-BR" dirty="0"/>
              <a:t>Já o deepseek-r1:8b e qwen3:4b geraram volumes de tokens significativamente maiores, aumentando o tempo médio de resposta.</a:t>
            </a:r>
            <a:endParaRPr lang="pt-PT" noProof="0" dirty="0"/>
          </a:p>
          <a:p>
            <a:r>
              <a:rPr lang="pt-PT" b="1" noProof="0" dirty="0"/>
              <a:t>Impacto da Quantidade de </a:t>
            </a:r>
            <a:r>
              <a:rPr lang="pt-PT" b="1" noProof="0" dirty="0" err="1"/>
              <a:t>Logs</a:t>
            </a:r>
            <a:r>
              <a:rPr lang="pt-PT" b="1" noProof="0" dirty="0"/>
              <a:t>:</a:t>
            </a:r>
            <a:endParaRPr lang="pt-PT" noProof="0" dirty="0"/>
          </a:p>
          <a:p>
            <a:pPr lvl="1"/>
            <a:r>
              <a:rPr lang="pt-BR" dirty="0"/>
              <a:t>Todos os modelos mantiveram desempenho relativamente estável nas diversas quantidades, embora os modelos maiores mostrem alguma degradação de precisão à medida que o volume de logs aumenta.</a:t>
            </a:r>
            <a:endParaRPr lang="pt-PT" noProof="0" dirty="0"/>
          </a:p>
        </p:txBody>
      </p:sp>
    </p:spTree>
    <p:extLst>
      <p:ext uri="{BB962C8B-B14F-4D97-AF65-F5344CB8AC3E}">
        <p14:creationId xmlns:p14="http://schemas.microsoft.com/office/powerpoint/2010/main" val="27759873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A41D4-BD84-B1EB-4A21-A5118DE52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97D304-8498-1A32-2EB1-F02D578BA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noProof="0" dirty="0"/>
              <a:t>Análise de resultados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A1C3A1A7-EB25-A46F-D604-DE38A3BADB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5614086"/>
              </p:ext>
            </p:extLst>
          </p:nvPr>
        </p:nvGraphicFramePr>
        <p:xfrm>
          <a:off x="677334" y="2253572"/>
          <a:ext cx="8697046" cy="1828800"/>
        </p:xfrm>
        <a:graphic>
          <a:graphicData uri="http://schemas.openxmlformats.org/drawingml/2006/table">
            <a:tbl>
              <a:tblPr firstRow="1" lastRow="1"/>
              <a:tblGrid>
                <a:gridCol w="4348523">
                  <a:extLst>
                    <a:ext uri="{9D8B030D-6E8A-4147-A177-3AD203B41FA5}">
                      <a16:colId xmlns:a16="http://schemas.microsoft.com/office/drawing/2014/main" val="822865040"/>
                    </a:ext>
                  </a:extLst>
                </a:gridCol>
                <a:gridCol w="4348523">
                  <a:extLst>
                    <a:ext uri="{9D8B030D-6E8A-4147-A177-3AD203B41FA5}">
                      <a16:colId xmlns:a16="http://schemas.microsoft.com/office/drawing/2014/main" val="7885244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noProof="0"/>
                        <a:t>Modelo</a:t>
                      </a:r>
                      <a:endParaRPr lang="pt-PT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noProof="0"/>
                        <a:t>Observação</a:t>
                      </a:r>
                      <a:endParaRPr lang="pt-PT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7873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noProof="0" dirty="0"/>
                        <a:t>gpt-oss:120b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precisão alta, mas menos eficiente</a:t>
                      </a:r>
                      <a:endParaRPr lang="pt-PT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88594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noProof="0"/>
                        <a:t>deepseek-r1:8b</a:t>
                      </a:r>
                      <a:endParaRPr lang="pt-PT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desempenho inconsistente</a:t>
                      </a:r>
                      <a:endParaRPr lang="pt-PT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0151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noProof="0" dirty="0"/>
                        <a:t>qwen3:4b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desempenho inconsistente</a:t>
                      </a:r>
                      <a:endParaRPr lang="pt-PT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79294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noProof="0" dirty="0"/>
                        <a:t>gemma3:4b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/>
                        <a:t>melhor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relação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precisão</a:t>
                      </a:r>
                      <a:r>
                        <a:rPr lang="en-US" dirty="0"/>
                        <a:t>/</a:t>
                      </a:r>
                      <a:r>
                        <a:rPr lang="en-US" dirty="0" err="1"/>
                        <a:t>velocidade</a:t>
                      </a:r>
                      <a:endParaRPr lang="pt-PT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76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4022133"/>
      </p:ext>
    </p:extLst>
  </p:cSld>
  <p:clrMapOvr>
    <a:masterClrMapping/>
  </p:clrMapOvr>
</p:sld>
</file>

<file path=ppt/theme/theme1.xml><?xml version="1.0" encoding="utf-8"?>
<a:theme xmlns:a="http://schemas.openxmlformats.org/drawingml/2006/main" name="Faceta">
  <a:themeElements>
    <a:clrScheme name="Facet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d73cc0d-225c-4cd1-9155-489065828688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2E9766BA3B993949BCE30BFE8D21E382" ma:contentTypeVersion="6" ma:contentTypeDescription="Criar um novo documento." ma:contentTypeScope="" ma:versionID="98e7defb4485da00722ee042d18ec4cd">
  <xsd:schema xmlns:xsd="http://www.w3.org/2001/XMLSchema" xmlns:xs="http://www.w3.org/2001/XMLSchema" xmlns:p="http://schemas.microsoft.com/office/2006/metadata/properties" xmlns:ns3="ed73cc0d-225c-4cd1-9155-489065828688" targetNamespace="http://schemas.microsoft.com/office/2006/metadata/properties" ma:root="true" ma:fieldsID="8083eb3c91718fffef269c5dfeb55fdc" ns3:_="">
    <xsd:import namespace="ed73cc0d-225c-4cd1-9155-489065828688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SearchProperties" minOccurs="0"/>
                <xsd:element ref="ns3:MediaServiceObjectDetectorVersion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3cc0d-225c-4cd1-9155-48906582868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1D6223F-590C-472C-B53D-D79A82E0BC6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21189C-7AAE-4008-AE16-E100DF0891FA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d73cc0d-225c-4cd1-9155-489065828688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9CCFC0B6-C6A6-4889-9D8D-B5B0DEDD95CA}">
  <ds:schemaRefs>
    <ds:schemaRef ds:uri="ed73cc0d-225c-4cd1-9155-48906582868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79</TotalTime>
  <Words>540</Words>
  <Application>Microsoft Office PowerPoint</Application>
  <PresentationFormat>Widescreen</PresentationFormat>
  <Paragraphs>55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Trebuchet MS</vt:lpstr>
      <vt:lpstr>Wingdings 3</vt:lpstr>
      <vt:lpstr>Faceta</vt:lpstr>
      <vt:lpstr>Ponto de Situação</vt:lpstr>
      <vt:lpstr>Melhorias Implementadas</vt:lpstr>
      <vt:lpstr>Precisão por Quantidade de Logs </vt:lpstr>
      <vt:lpstr>PowerPoint Presentation</vt:lpstr>
      <vt:lpstr>PowerPoint Presentation</vt:lpstr>
      <vt:lpstr>Tokens/s por Quantidade de Logs </vt:lpstr>
      <vt:lpstr>PowerPoint Presentation</vt:lpstr>
      <vt:lpstr>PowerPoint Presentation</vt:lpstr>
      <vt:lpstr>T. Resposta por Quantidade de Logs</vt:lpstr>
      <vt:lpstr>PowerPoint Presentation</vt:lpstr>
      <vt:lpstr>PowerPoint Presentation</vt:lpstr>
      <vt:lpstr>Análise dos resultados</vt:lpstr>
      <vt:lpstr>Análise de resultados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Rodrigo Correia</dc:creator>
  <cp:keywords/>
  <dc:description>generated using python-pptx</dc:description>
  <cp:lastModifiedBy>Rodrigo Tiago da Costa Correia</cp:lastModifiedBy>
  <cp:revision>7</cp:revision>
  <dcterms:created xsi:type="dcterms:W3CDTF">2013-01-27T09:14:16Z</dcterms:created>
  <dcterms:modified xsi:type="dcterms:W3CDTF">2025-11-11T11:39:13Z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0x0101002E9766BA3B993949BCE30BFE8D21E382</vt:lpwstr>
  </property>
</Properties>
</file>